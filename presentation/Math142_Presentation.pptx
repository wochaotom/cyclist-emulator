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6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model how a time trialist should spend power over a course, then let an optimizer find the fastest legal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question is distribution of effort, not total effort — that’s what separates riders of equal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design choices drive everything: forward-Euler stepping, and reducing strategy to just two interpretable knobs.</a:t>
            </a:r>
            <a:endParaRPr lang="en-US" dirty="0"/>
          </a:p>
          <a:p>
            <a:r>
              <a:t>Detail: 1-second forward-Euler steps; two pacing knobs (hill_factor, flat_boost); optimized with multi-start Nelder–Mead per rider/course.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forces, one update rule — every force is in newtons, divide by mass and multiply by dt to get the velocity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Fatigue is a single threshold rule, and the whole strategy collapses to two numbers the optimizer tunes.</a:t>
            </a:r>
            <a:endParaRPr lang="en-US" dirty="0"/>
          </a:p>
          <a:p>
            <a:r>
              <a:t>Detail: P_base = 0.93·P_threshold, ceiling P_max = 1.5·P_threshold; recovery rate ≈ 20% of the fatigue rate; CdA ≈ 0.20–0.23 m² (TT) / 0.24–0.27 m² (climbers), female ≈ −10%.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courses chosen to span the spectrum — hilly, flat, and technical — against four rider archetypes.</a:t>
            </a:r>
            <a:endParaRPr lang="en-US" dirty="0"/>
          </a:p>
          <a:p>
            <a:r>
              <a:t>Detail: Tokyo lap 22.1 km, Flanders men 43.3 km, custom 5 km; bike ≈ 8 kg (of a sourced 7–14 kg range); W/kg from Valenzuela et al. 2022 (male) and Mateo-March et al. 2022 (female).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power panel against the threshold line — the optimizer spikes on climbs and eases on descents without being told to.</a:t>
            </a:r>
            <a:endParaRPr lang="en-US" dirty="0"/>
          </a:p>
          <a:p>
            <a:r>
              <a:t>Numbers: hill_factor 800→1180, flat_boost 0→90 W; time 62.1→59.2 min (≈ 3 min saved); climb power ≈ 450 W, P_threshold 400 W, P_max ≈ 600 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flat basin is the headline of this slide: many plans tie, so the exact knob values matter less than the strategy shape.</a:t>
            </a:r>
            <a:endParaRPr lang="en-US" dirty="0"/>
          </a:p>
          <a:p>
            <a:r>
              <a:t>Numbers: optimum hill_factor ≈ 1180, flat_boost ≈ 90 W; search bounds 0–2000 / 0–150; steady flat speed ≈ 50 km/h; removing fatigue entirely would cut ≈ 2 more minutes. (The dropped 1-D slices showed a flat valley confirming the basin.)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Ordering is consistent across every course: TT &gt; climber within gender, male &gt; female — exactly what the physics predicts.</a:t>
            </a:r>
            <a:endParaRPr lang="en-US" dirty="0"/>
          </a:p>
          <a:p>
            <a:r>
              <a:t>Numbers (one lap, min) — Tokyo: 29.6 / 33.7 / 32.2 / 36.0; Flanders: 53.5 / 59.9 / 59.3 / 65.2; custom: 6.5 / 7.3 / 7.1 / 7.9 (male_tt / female_tt / male_clm / female_clm).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a few percent slow, consistently — which is the right direction: a transparent model shouldn’t out-ride a world champion.</a:t>
            </a:r>
            <a:endParaRPr lang="en-US" dirty="0"/>
          </a:p>
          <a:p>
            <a:r>
              <a:t>Numbers: Tokyo men 59.22 vs Roglič 55.07 (+7.5%); Tokyo women 33.73 vs van Vleuten 30.22 (+11.6%); Flanders men 53.47 vs Ganna 47.80 (+11.9%). Roglič = Olympic champion; van Vleuten = Olympic champion; Ganna = world champion.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Flanders’ slope is roughly double Tokyo’s and ten times the loop’s — on a flat course, wind is the dominant external variable.</a:t>
            </a:r>
            <a:endParaRPr lang="en-US" dirty="0"/>
          </a:p>
          <a:p>
            <a:r>
              <a:t>Numbers: ≈ 150 / 70 / 16 s per +1 m/s (Flanders / Tokyo / custom). Flanders +4 m/s = +11.28 min, −4 m/s = −8.53 min; Tokyo +4 = +5.28 min; custom +4 = +1.15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execution error is forgiving, and threshold power is the single parameter worth training — about two minutes per 10%.</a:t>
            </a:r>
            <a:endParaRPr lang="en-US" dirty="0"/>
          </a:p>
          <a:p>
            <a:r>
              <a:t>Numbers: 10% power shortfall ≈ 1.6–2.0 min (Tokyo). Re-optimizing ±10%: threshold power 63.0 / 59.2 / 57.1; CdA 57.4 / 59.2 / 61.0; mass 58.0 / 59.2 / 60.5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traded physiological detail for transparency and speed; each limitation maps to a concrete, known refinement.</a:t>
            </a:r>
            <a:endParaRPr lang="en-US" dirty="0"/>
          </a:p>
          <a:p>
            <a:r>
              <a:t>Detail: female CdA ≈ −10% vs male (assumption). Refinements: direction-dependent wind u = u₀·cos(α−β); physical (speed-dependent) cornering; a critical-power / W′ fatigue model (Ding et al. 2022).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remember: the model rediscovers good pacing on its own and gets within a few percent of the best riders in the world.</a:t>
            </a:r>
            <a:endParaRPr lang="en-US" dirty="0"/>
          </a:p>
          <a:p>
            <a:r>
              <a:t>Close: ≈ 3 min saved vs the baseline plan; wind dominates flat courses; the plan is robust to ordinary execution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step-by-step for the methods-curious in Q&amp;A — it’s just Newton’s second law applied per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MASTER">
    <p:bg>
      <p:bgPr>
        <a:solidFill>
          <a:srgbClr val="F0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195" y="190195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3" name="Shape 1"/>
          <p:cNvSpPr/>
          <p:nvPr/>
        </p:nvSpPr>
        <p:spPr>
          <a:xfrm>
            <a:off x="190195" y="190195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4" name="Shape 2"/>
          <p:cNvSpPr/>
          <p:nvPr/>
        </p:nvSpPr>
        <p:spPr>
          <a:xfrm>
            <a:off x="11835994" y="6674206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5" name="Shape 3"/>
          <p:cNvSpPr/>
          <p:nvPr/>
        </p:nvSpPr>
        <p:spPr>
          <a:xfrm>
            <a:off x="11982298" y="6508699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9806" y="279806"/>
            <a:ext cx="11632997" cy="6299302"/>
          </a:xfrm>
          <a:prstGeom prst="rect">
            <a:avLst/>
          </a:prstGeom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2022 MCM PROBLEM A · UCLA MATH 142 · GROUP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Power Profile of a Cyclist: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
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for the Time Trial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194560" cy="38405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courses · 4 rider profiles · </a:t>
            </a:r>
            <a:pPr indent="0" marL="0">
              <a:buNone/>
            </a:pPr>
            <a:r>
              <a:rPr lang="en-US" sz="170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 within ~7–12% of the 2021 winners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4   · 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 Miller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Carter Dandridge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Prannay Veerabahu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Dennis Lee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Problem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Riders of equal fitness are separated by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they spend power, not how much.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413102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Same fitness: the race is won on how power is spent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one can hold a single power the whole way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Hills, descents, wind: every metre changes speed-per-watt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6921094" y="3931920"/>
            <a:ext cx="4737506" cy="114300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70802" y="3840480"/>
            <a:ext cx="4737506" cy="1143000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035394" y="3950208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CORE QUESTION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35394" y="4133087"/>
            <a:ext cx="4419295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Distribution of effort, not total effort. That is what separates riders of equal capacity.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Our Approach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 the model works: simulate the ride, then let an optimizer find the fastest plan.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39" name="Picture 38" descr="mode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971800"/>
            <a:ext cx="10698480" cy="26791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Forces &amp; the Discrete Update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Net force = drive − drag − gravity − rolling resistance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Drag grows with the square of speed + wind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second: net force → new speed (forward-Euler)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512064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510235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DISCRETE UPDATE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21" name="Picture 20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358384"/>
            <a:ext cx="9509760" cy="590702"/>
          </a:xfrm>
          <a:prstGeom prst="rect">
            <a:avLst/>
          </a:prstGeom>
        </p:spPr>
      </p:pic>
      <p:pic>
        <p:nvPicPr>
          <p:cNvPr id="22" name="Picture 21" descr="forc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417320"/>
            <a:ext cx="512064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Fatigue &amp; the Two Pacing Knobs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27048"/>
            <a:ext cx="11091672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Fatigue builds above your threshold, recovers below it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Two knobs, hill_factor and flat_boost, set the whole plan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35" name="Picture 34" descr="fatigue_kn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43200"/>
            <a:ext cx="107899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Courses &amp; Riders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7006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01 · HILLY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7006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Tokyo 2021 ITT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7006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22.1 km lap, men 2 laps = 44.2 km, women 1 lap.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4995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57700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02 · FLAT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57700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Flanders 2021 Worlds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57700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Flat, fast, men 43.3 km, women 30.3 km.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26603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178394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03 · TECHNICAL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78394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Custom loop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78394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km, 4 sharp turns, one steep ramp.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43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114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TT specialist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14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Heavier, more powerful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65906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92094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TT specialist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92094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absolute power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46597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73698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climber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3698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Lighter, better W/kg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282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0553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climber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53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Lightest, biggest drag share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42" name="Picture 41" descr="course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251960"/>
            <a:ext cx="109728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Pacing: The Diagnostic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54480"/>
            <a:ext cx="539496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Gradient, power and fatigue, all vs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Baseline (blue) vs optimal (red), male 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Above threshold on climbs, eased on descents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553712"/>
            <a:ext cx="5303520" cy="713232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48640" y="4462272"/>
            <a:ext cx="5303520" cy="7132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13232" y="4553712"/>
            <a:ext cx="5029200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 TAKEAWAY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13232" y="4736592"/>
            <a:ext cx="5029200" cy="381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Recovers the intuitive strategy, unprompted.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30" name="Picture 29" descr="diag_talk_male_t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532120" cy="42885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17920" y="5870448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B6258"/>
                </a:solidFill>
                <a:latin typeface="Inter"/>
              </a:rPr>
              <a:t>Optimal vs baseline pacing, male TT specialist, Tokyo (2 laps)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Optimization Landscape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554480"/>
            <a:ext cx="512064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Completion time over the two knobs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Broad dark basin: many plans nearly tie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Strategy shape matters more than the exact numbers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26" name="Picture 25" descr="heatmap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486400" cy="3657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72200" y="5221224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50">
                <a:solidFill>
                  <a:srgbClr val="6B6258"/>
                </a:solidFill>
                <a:latin typeface="Inter"/>
              </a:rPr>
              <a:t>What this shows: darker = faster; the wide dark zone means many knob settings nearly tie.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Results Across Riders &amp; Courses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All 4 riders × 3 courses, one lap each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TT beats climber; men ahead of women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Climbers lose time on flats (more drag)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pic>
        <p:nvPicPr>
          <p:cNvPr id="15" name="Picture 14" descr="finish_times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1783080"/>
            <a:ext cx="6537960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Validation vs the 2021 Winners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73098"/>
            <a:ext cx="11024006" cy="2730398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7" name="Image 0" descr="mq569lla-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4138" y="1587398"/>
            <a:ext cx="4503420" cy="2501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4302" y="4254703"/>
            <a:ext cx="9372600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vs real 2021 winner, with percentage error above each pair, real race configuration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4302" y="4635094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specialist run at the real race setup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2021 champions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 transparent model should trail the very best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539496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Roglič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(men):  59.2 vs 55:04  (+7.5%)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van Vleuten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(women):  33.7 vs 30:13  (+11.6%)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Ganna</a:t>
            </a:r>
            <a:r>
              <a:rPr sz="1250" b="0">
                <a:solidFill>
                  <a:srgbClr val="1A1714"/>
                </a:solidFill>
                <a:latin typeface="Inter"/>
              </a:rPr>
              <a:t>   Flanders ITT (men):  53.5 vs 47:48  (+11.9%)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Wind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Wind acts only through drag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Flat Flanders is the most exposed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wind direction, strength only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a-wind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a uniform headwind (−4…+4 m/s, negative = tailwind), three courses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Power Execution &amp; Parameters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Scale the power plan ±5 / 10 / 15%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Mild penalty, robust to pacing error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Threshold power is the trait that matters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9-power_devi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power deviation from plan (−15…+15%), four riders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&amp; Alternatives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Headwind has strength but no direction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Corner penalty is fixed, not speed-dependent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Female CdA scaled from male, not measured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One simple fatigue rule (cf. critical-power / W′)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921094" y="3733495"/>
            <a:ext cx="4737506" cy="952805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70802" y="3683203"/>
            <a:ext cx="4737506" cy="952805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35394" y="3797503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TRADE-OFF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035394" y="3974897"/>
            <a:ext cx="4419295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traded physiological detail for transparency. Each limitation maps to a known refinement.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87398"/>
            <a:ext cx="73664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optimizer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rediscovers good pacing on its own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, and lands within a few percent of the best riders in the world.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730398"/>
            <a:ext cx="7366406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Point mass + a fatigue rule + a 2-knob optimizer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Push climbs, recover descents, hold steady on flats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real 2021 winners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84302" y="4444898"/>
            <a:ext cx="7366406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you, Questions?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Model Derivation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Start from Newton's second law: a = F / m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Build F from the four force terms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Substitute each force, then step in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Units check: forces in N → m/s after ÷m, ×Δt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493776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1091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UPDATE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 · Backup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pPr algn="r" indent="0" marL="0">
              <a:buNone/>
            </a:pPr>
            <a:endParaRPr lang="en-US" sz="1050" dirty="0"/>
          </a:p>
        </p:txBody>
      </p:sp>
      <p:pic>
        <p:nvPicPr>
          <p:cNvPr id="15" name="Picture 14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248656"/>
            <a:ext cx="9509760" cy="590702"/>
          </a:xfrm>
          <a:prstGeom prst="rect">
            <a:avLst/>
          </a:prstGeom>
        </p:spPr>
      </p:pic>
      <p:pic>
        <p:nvPicPr>
          <p:cNvPr id="16" name="Picture 15" descr="eq_fo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5440680" cy="14740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2026-06-08T12:49:07Z</dcterms:created>
  <dcterms:modified xsi:type="dcterms:W3CDTF">2026-06-08T12:49:07Z</dcterms:modified>
</cp:coreProperties>
</file>