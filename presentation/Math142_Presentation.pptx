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model how a time trialist should spend power over a course, then let an optimizer find the fastest legal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question is distribution of effort, not total effort — that’s what separates riders of equal capacity.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design choices drive everything: forward-Euler stepping, and reducing strategy to just two interpretable knobs.</a:t>
            </a:r>
            <a:endParaRPr lang="en-US" dirty="0"/>
          </a:p>
          <a:p>
            <a:r>
              <a:t>Detail: 1-second forward-Euler steps; two pacing knobs (hill_factor, flat_boost); optimized with multi-start Nelder–Mead per rider/course.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forces, one update rule — every force is in newtons, divide by mass and multiply by dt to get the velocity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Fatigue is a single threshold rule, and the whole strategy collapses to two numbers the optimizer tunes.</a:t>
            </a:r>
            <a:endParaRPr lang="en-US" dirty="0"/>
          </a:p>
          <a:p>
            <a:r>
              <a:t>Detail: P_base = 0.93·P_threshold, ceiling P_max = 1.5·P_threshold; recovery rate ≈ 20% of the fatigue rate; CdA ≈ 0.20–0.23 m² (TT) / 0.24–0.27 m² (climbers), female ≈ −10%.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courses chosen to span the spectrum — hilly, flat, and technical — against four rider archetypes.</a:t>
            </a:r>
            <a:endParaRPr lang="en-US" dirty="0"/>
          </a:p>
          <a:p>
            <a:r>
              <a:t>Detail: Tokyo lap 22.1 km, Flanders men 43.3 km, custom 5 km; bike ≈ 8 kg (of a sourced 7–14 kg range); W/kg from Valenzuela et al. 2022 (male) and Mateo-March et al. 2022 (female).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power panel against the threshold line — the optimizer spikes on climbs and eases on descents without being told to.</a:t>
            </a:r>
            <a:endParaRPr lang="en-US" dirty="0"/>
          </a:p>
          <a:p>
            <a:r>
              <a:t>Numbers: hill_factor 800→1180, flat_boost 0→90 W; time 62.1→59.2 min (≈ 3 min saved); climb power ≈ 450 W, P_threshold 400 W, P_max ≈ 600 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flat basin is the headline of this slide: many plans tie, so the exact knob values matter less than the strategy shape.</a:t>
            </a:r>
            <a:endParaRPr lang="en-US" dirty="0"/>
          </a:p>
          <a:p>
            <a:r>
              <a:t>Numbers: optimum hill_factor ≈ 1180, flat_boost ≈ 90 W; search bounds 0–2000 / 0–150; steady flat speed ≈ 50 km/h; removing fatigue entirely would cut ≈ 2 more minutes. (The dropped 1-D slices showed a flat valley confirming the basin.)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Ordering is consistent across every course: TT &gt; climber within gender, male &gt; female — exactly what the physics predicts.</a:t>
            </a:r>
            <a:endParaRPr lang="en-US" dirty="0"/>
          </a:p>
          <a:p>
            <a:r>
              <a:t>Numbers (one lap, min) — Tokyo: 29.6 / 33.7 / 32.2 / 36.0; Flanders: 53.5 / 59.9 / 59.3 / 65.2; custom: 6.5 / 7.3 / 7.1 / 7.9 (male_tt / female_tt / male_clm / female_clm).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We’re a few percent slow, consistently — which is the right direction: a transparent model shouldn’t out-ride a world champion.</a:t>
            </a:r>
            <a:endParaRPr lang="en-US" dirty="0"/>
          </a:p>
          <a:p>
            <a:r>
              <a:t>Numbers: Tokyo men 59.22 vs Roglič 55.07 (+7.5%); Tokyo women 33.73 vs van Vleuten 30.22 (+11.6%); Flanders men 53.47 vs Ganna 47.80 (+11.9%). Roglič = Olympic champion; van Vleuten = Olympic champion; Ganna = world champion.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Flanders’ slope is roughly double Tokyo’s and ten times the loop’s — on a flat course, wind is the dominant external variable.</a:t>
            </a:r>
            <a:endParaRPr lang="en-US" dirty="0"/>
          </a:p>
          <a:p>
            <a:r>
              <a:t>Numbers: ≈ 150 / 70 / 16 s per +1 m/s (Flanders / Tokyo / custom). Flanders +4 m/s = +11.28 min, −4 m/s = −8.53 min; Tokyo +4 = +5.28 min; custom +4 = +1.15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takeaways: execution error is forgiving, and threshold power is the single parameter worth training — about two minutes per 10%.</a:t>
            </a:r>
            <a:endParaRPr lang="en-US" dirty="0"/>
          </a:p>
          <a:p>
            <a:r>
              <a:t>Numbers: 10% power shortfall ≈ 1.6–2.0 min (Tokyo). Re-optimizing ±10%: threshold power 63.0 / 59.2 / 57.1; CdA 57.4 / 59.2 / 61.0; mass 58.0 / 59.2 / 60.5 min.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traded physiological detail for transparency and speed; each limitation maps to a concrete, known refinement.</a:t>
            </a:r>
            <a:endParaRPr lang="en-US" dirty="0"/>
          </a:p>
          <a:p>
            <a:r>
              <a:t>Detail: female CdA ≈ −10% vs male (assumption). Refinements: direction-dependent wind u = u₀·cos(α−β); physical (speed-dependent) cornering; a critical-power / W′ fatigue model (Ding et al. 2022).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single-rider model already has the two pieces a TTT needs — a per-rider drag area and a per-rider fatigue budget.</a:t>
            </a:r>
            <a:endParaRPr lang="en-US" dirty="0"/>
          </a:p>
          <a:p>
            <a:r>
              <a:t>Detail: extends our model by scaling a sheltered rider's CdA by a draft factor and dropping the weakest once four can still finish — it already carries per-rider CdA and per-rider fatigue.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 to remember: the model rediscovers good pacing on its own and gets within a few percent of the best riders in the world.</a:t>
            </a:r>
            <a:endParaRPr lang="en-US" dirty="0"/>
          </a:p>
          <a:p>
            <a:r>
              <a:t>Close: ≈ 3 min saved vs the baseline plan; wind dominates flat courses; the plan is robust to ordinary execution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step-by-step for the methods-curious in Q&amp;A — it’s just Newton’s second law applied per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P_MASTER">
    <p:bg>
      <p:bgPr>
        <a:solidFill>
          <a:srgbClr val="F0E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90195" y="190195"/>
            <a:ext cx="165506" cy="19202"/>
          </a:xfrm>
          <a:prstGeom prst="rect">
            <a:avLst/>
          </a:prstGeom>
          <a:solidFill>
            <a:srgbClr val="1A1714"/>
          </a:solidFill>
          <a:ln/>
        </p:spPr>
      </p:sp>
      <p:sp>
        <p:nvSpPr>
          <p:cNvPr id="3" name="Shape 1"/>
          <p:cNvSpPr/>
          <p:nvPr/>
        </p:nvSpPr>
        <p:spPr>
          <a:xfrm>
            <a:off x="190195" y="190195"/>
            <a:ext cx="19202" cy="165506"/>
          </a:xfrm>
          <a:prstGeom prst="rect">
            <a:avLst/>
          </a:prstGeom>
          <a:solidFill>
            <a:srgbClr val="1A1714"/>
          </a:solidFill>
          <a:ln/>
        </p:spPr>
      </p:sp>
      <p:sp>
        <p:nvSpPr>
          <p:cNvPr id="4" name="Shape 2"/>
          <p:cNvSpPr/>
          <p:nvPr/>
        </p:nvSpPr>
        <p:spPr>
          <a:xfrm>
            <a:off x="11835994" y="6674206"/>
            <a:ext cx="165506" cy="19202"/>
          </a:xfrm>
          <a:prstGeom prst="rect">
            <a:avLst/>
          </a:prstGeom>
          <a:solidFill>
            <a:srgbClr val="1A1714"/>
          </a:solidFill>
          <a:ln/>
        </p:spPr>
      </p:sp>
      <p:sp>
        <p:nvSpPr>
          <p:cNvPr id="5" name="Shape 3"/>
          <p:cNvSpPr/>
          <p:nvPr/>
        </p:nvSpPr>
        <p:spPr>
          <a:xfrm>
            <a:off x="11982298" y="6508699"/>
            <a:ext cx="19202" cy="165506"/>
          </a:xfrm>
          <a:prstGeom prst="rect">
            <a:avLst/>
          </a:prstGeom>
          <a:solidFill>
            <a:srgbClr val="1A1714"/>
          </a:solidFill>
          <a:ln/>
        </p:spPr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9806" y="279806"/>
            <a:ext cx="11632997" cy="6299302"/>
          </a:xfrm>
          <a:prstGeom prst="rect">
            <a:avLst/>
          </a:prstGeom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822960" y="21488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2022 MCM PROBLEM A · UCLA MATH 142 · GROUP 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269748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Power Profile of a Cyclist:</a:t>
            </a:r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000000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
</a:t>
            </a:r>
            <a:endParaRPr lang="en-US" sz="5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800" b="1" i="1" dirty="0">
                <a:solidFill>
                  <a:srgbClr val="B5392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Optimal Pacing</a:t>
            </a:r>
            <a:pPr indent="0" marL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 for the Time Trial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822960" y="4617720"/>
            <a:ext cx="2194560" cy="38405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22960" y="48006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courses · 4 rider profiles · </a:t>
            </a:r>
            <a:pPr indent="0" marL="0">
              <a:buNone/>
            </a:pPr>
            <a:r>
              <a:rPr lang="en-US" sz="170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finishing within ~7–12% of the 2021 winners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56692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4   ·   </a:t>
            </a:r>
            <a:pPr indent="0" marL="0">
              <a:buNone/>
            </a:pPr>
            <a:r>
              <a:rPr lang="en-US" sz="1250" b="1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 Miller</a:t>
            </a:r>
            <a:pPr indent="0" marL="0">
              <a:buNone/>
            </a:pPr>
            <a:r>
              <a:rPr lang="en-US" sz="12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</a:t>
            </a:r>
            <a:pPr indent="0" marL="0">
              <a:buNone/>
            </a:pPr>
            <a:r>
              <a:rPr lang="en-US" sz="1250" b="1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Carter Dandridge</a:t>
            </a:r>
            <a:pPr indent="0" marL="0">
              <a:buNone/>
            </a:pPr>
            <a:r>
              <a:rPr lang="en-US" sz="12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</a:t>
            </a:r>
            <a:pPr indent="0" marL="0">
              <a:buNone/>
            </a:pPr>
            <a:r>
              <a:rPr lang="en-US" sz="1250" b="1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Prannay Veerabahu</a:t>
            </a:r>
            <a:pPr indent="0" marL="0">
              <a:buNone/>
            </a:pPr>
            <a:r>
              <a:rPr lang="en-US" sz="12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·  </a:t>
            </a:r>
            <a:pPr indent="0" marL="0">
              <a:buNone/>
            </a:pPr>
            <a:r>
              <a:rPr lang="en-US" sz="1250" b="1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Dennis Lee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Problem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84302" y="1524305"/>
            <a:ext cx="5969203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Riders of equal fitness are separated by </a:t>
            </a:r>
            <a:pPr indent="0" marL="0">
              <a:lnSpc>
                <a:spcPct val="118000"/>
              </a:lnSpc>
              <a:buNone/>
            </a:pPr>
            <a:r>
              <a:rPr lang="en-US" sz="2000" b="1" i="1" dirty="0">
                <a:solidFill>
                  <a:srgbClr val="B5392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how</a:t>
            </a:r>
            <a:pPr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 they spend power, not how much.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84302" y="2413102"/>
            <a:ext cx="5969203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1600"/>
              </a:spcAft>
              <a:buNone/>
            </a:pPr>
            <a:r>
              <a:rPr lang="en-US" sz="17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Same fitness: the race is won on how power is spent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750" dirty="0"/>
          </a:p>
          <a:p>
            <a:pPr indent="0" marL="0">
              <a:lnSpc>
                <a:spcPct val="122000"/>
              </a:lnSpc>
              <a:spcAft>
                <a:spcPts val="1600"/>
              </a:spcAft>
              <a:buNone/>
            </a:pPr>
            <a:r>
              <a:rPr lang="en-US" sz="17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No one can hold a single power the whole way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750" dirty="0"/>
          </a:p>
          <a:p>
            <a:pPr indent="0" marL="0">
              <a:lnSpc>
                <a:spcPct val="122000"/>
              </a:lnSpc>
              <a:spcAft>
                <a:spcPts val="1600"/>
              </a:spcAft>
              <a:buNone/>
            </a:pPr>
            <a:r>
              <a:rPr lang="en-US" sz="17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Hills, descents, wind: every metre changes speed-per-watt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6921094" y="3931920"/>
            <a:ext cx="4737506" cy="1143000"/>
          </a:xfrm>
          <a:prstGeom prst="rect">
            <a:avLst/>
          </a:prstGeom>
          <a:solidFill>
            <a:srgbClr val="1A1714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870802" y="3840480"/>
            <a:ext cx="4737506" cy="1143000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035394" y="3950208"/>
            <a:ext cx="4419295" cy="1655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FBF4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CORE QUESTION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035394" y="4133087"/>
            <a:ext cx="4419295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FBF4E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Distribution of effort, not total effort. That is what separates riders of equal capacity.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15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METHOD OVERVIEW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Our Approach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84302" y="1498702"/>
            <a:ext cx="11024006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How the model works: simulate the ride, then let an optimizer find the fastest plan.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15</a:t>
            </a:r>
            <a:endParaRPr lang="en-US" sz="1050" dirty="0"/>
          </a:p>
        </p:txBody>
      </p:sp>
      <p:pic>
        <p:nvPicPr>
          <p:cNvPr id="39" name="Picture 38" descr="model_lo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971800"/>
            <a:ext cx="10698480" cy="267919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Forces &amp; the Discrete Update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84302" y="1524305"/>
            <a:ext cx="5969203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Net force = drive − drag − gravity − rolling resistance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Drag grows with the square of speed + wind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Each second: net force → new speed (forward-Euler)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640080" y="5120640"/>
            <a:ext cx="11091672" cy="950976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48640" y="5029200"/>
            <a:ext cx="11091672" cy="950976"/>
          </a:xfrm>
          <a:prstGeom prst="rect">
            <a:avLst/>
          </a:prstGeom>
          <a:solidFill>
            <a:srgbClr val="FFFFFF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77240" y="5102352"/>
            <a:ext cx="4419295" cy="1527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DISCRETE UPDATE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15</a:t>
            </a:r>
            <a:endParaRPr lang="en-US" sz="1050" dirty="0"/>
          </a:p>
        </p:txBody>
      </p:sp>
      <p:pic>
        <p:nvPicPr>
          <p:cNvPr id="21" name="Picture 20" descr="eq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168" y="5358384"/>
            <a:ext cx="9509760" cy="590702"/>
          </a:xfrm>
          <a:prstGeom prst="rect">
            <a:avLst/>
          </a:prstGeom>
        </p:spPr>
      </p:pic>
      <p:pic>
        <p:nvPicPr>
          <p:cNvPr id="22" name="Picture 21" descr="force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1417320"/>
            <a:ext cx="5120640" cy="358444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Fatigue &amp; the Two Pacing Knobs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527048"/>
            <a:ext cx="11091672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Fatigue builds above your threshold, recovers below it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Two knobs, hill_factor and flat_boost, set the whole plan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32" name="Shape 30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15</a:t>
            </a:r>
            <a:endParaRPr lang="en-US" sz="1050" dirty="0"/>
          </a:p>
        </p:txBody>
      </p:sp>
      <p:pic>
        <p:nvPicPr>
          <p:cNvPr id="35" name="Picture 34" descr="fatigue_knob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2743200"/>
            <a:ext cx="1078992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Courses &amp; Riders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84302" y="1498702"/>
            <a:ext cx="3581705" cy="952805"/>
          </a:xfrm>
          <a:prstGeom prst="rect">
            <a:avLst/>
          </a:prstGeom>
          <a:solidFill>
            <a:srgbClr val="FFFFFF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7006" y="1600200"/>
            <a:ext cx="3327502" cy="1399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COURSE 01 · HILLY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37006" y="1765706"/>
            <a:ext cx="3327502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Tokyo 2021 ITT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7006" y="2031797"/>
            <a:ext cx="3327502" cy="3685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22.1 km lap, men 2 laps = 44.2 km, women 1 lap.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04995" y="1498702"/>
            <a:ext cx="3581705" cy="952805"/>
          </a:xfrm>
          <a:prstGeom prst="rect">
            <a:avLst/>
          </a:prstGeom>
          <a:solidFill>
            <a:srgbClr val="FFFFFF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457700" y="1600200"/>
            <a:ext cx="3327502" cy="1399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COURSE 02 · FLAT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457700" y="1765706"/>
            <a:ext cx="3327502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Flanders 2021 Worlds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457700" y="2031797"/>
            <a:ext cx="3327502" cy="3685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Flat, fast, men 43.3 km, women 30.3 km.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26603" y="1498702"/>
            <a:ext cx="3581705" cy="952805"/>
          </a:xfrm>
          <a:prstGeom prst="rect">
            <a:avLst/>
          </a:prstGeom>
          <a:solidFill>
            <a:srgbClr val="FFFFFF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178394" y="1600200"/>
            <a:ext cx="3327502" cy="13990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COURSE 03 · TECHNICAL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178394" y="1765706"/>
            <a:ext cx="3327502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Custom loop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178394" y="2031797"/>
            <a:ext cx="3327502" cy="3685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km, 4 sharp turns, one steep ramp.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84302" y="2616098"/>
            <a:ext cx="2680106" cy="698602"/>
          </a:xfrm>
          <a:prstGeom prst="rect">
            <a:avLst/>
          </a:prstGeom>
          <a:solidFill>
            <a:srgbClr val="F0EAE0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11403" y="2717597"/>
            <a:ext cx="2488997" cy="2157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Male TT specialist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11403" y="2958998"/>
            <a:ext cx="2488997" cy="2916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Heavier, more powerful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65906" y="2616098"/>
            <a:ext cx="2680106" cy="698602"/>
          </a:xfrm>
          <a:prstGeom prst="rect">
            <a:avLst/>
          </a:prstGeom>
          <a:solidFill>
            <a:srgbClr val="F0EAE0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492094" y="2717597"/>
            <a:ext cx="2488997" cy="2157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Female TT specialist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492094" y="2958998"/>
            <a:ext cx="2488997" cy="2916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Lower absolute power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46597" y="2616098"/>
            <a:ext cx="2680106" cy="698602"/>
          </a:xfrm>
          <a:prstGeom prst="rect">
            <a:avLst/>
          </a:prstGeom>
          <a:solidFill>
            <a:srgbClr val="F0EAE0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273698" y="2717597"/>
            <a:ext cx="2488997" cy="2157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Male climber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73698" y="2958998"/>
            <a:ext cx="2488997" cy="2916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Lighter, better W/kg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928202" y="2616098"/>
            <a:ext cx="2680106" cy="698602"/>
          </a:xfrm>
          <a:prstGeom prst="rect">
            <a:avLst/>
          </a:prstGeom>
          <a:solidFill>
            <a:srgbClr val="F0EAE0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9055303" y="2717597"/>
            <a:ext cx="2488997" cy="2157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7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Female climber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055303" y="2958998"/>
            <a:ext cx="2488997" cy="2916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Lightest, biggest drag share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15</a:t>
            </a:r>
            <a:endParaRPr lang="en-US" sz="1050" dirty="0"/>
          </a:p>
        </p:txBody>
      </p:sp>
      <p:pic>
        <p:nvPicPr>
          <p:cNvPr id="42" name="Picture 41" descr="course_profi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4251960"/>
            <a:ext cx="1097280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Optimal Pacing: The Diagnostic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1554480"/>
            <a:ext cx="5394960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Gradient, power and fatigue, all vs time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Baseline (blue) vs optimal (red), male TT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Above threshold on climbs, eased on descents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40080" y="4553712"/>
            <a:ext cx="5303520" cy="713232"/>
          </a:xfrm>
          <a:prstGeom prst="rect">
            <a:avLst/>
          </a:prstGeom>
          <a:solidFill>
            <a:srgbClr val="1A1714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48640" y="4462272"/>
            <a:ext cx="5303520" cy="7132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13232" y="4553712"/>
            <a:ext cx="5029200" cy="1655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FBF4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KEY TAKEAWAY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13232" y="4736592"/>
            <a:ext cx="5029200" cy="3813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FBF4E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Recovers the intuitive strategy, unprompted.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15</a:t>
            </a:r>
            <a:endParaRPr lang="en-US" sz="1050" dirty="0"/>
          </a:p>
        </p:txBody>
      </p:sp>
      <p:pic>
        <p:nvPicPr>
          <p:cNvPr id="30" name="Picture 29" descr="diag_talk_male_t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508760"/>
            <a:ext cx="5532120" cy="428853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217920" y="5870448"/>
            <a:ext cx="54864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6B6258"/>
                </a:solidFill>
                <a:latin typeface="Inter"/>
              </a:rPr>
              <a:t>Optimal vs baseline pacing, male TT specialist, Tokyo (2 laps)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Optimization Landscape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48640" y="1554480"/>
            <a:ext cx="5120640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Completion time over the two knobs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Broad dark basin: many plans nearly tie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Strategy shape matters more than the exact numbers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23" name="Shape 20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15</a:t>
            </a:r>
            <a:endParaRPr lang="en-US" sz="1050" dirty="0"/>
          </a:p>
        </p:txBody>
      </p:sp>
      <p:pic>
        <p:nvPicPr>
          <p:cNvPr id="26" name="Picture 25" descr="heatmap_tal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508760"/>
            <a:ext cx="5486400" cy="36576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172200" y="5221224"/>
            <a:ext cx="54864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50">
                <a:solidFill>
                  <a:srgbClr val="6B6258"/>
                </a:solidFill>
                <a:latin typeface="Inter"/>
              </a:rPr>
              <a:t>What this shows: darker = faster; the wide dark zone means many knob settings nearly tie.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Results Across Riders &amp; Courses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84302" y="1524305"/>
            <a:ext cx="4419295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All 4 riders × 3 courses, one lap each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TT beats climber; men ahead of women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Climbers lose time on flats (more drag)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12" name="Shape 8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15</a:t>
            </a:r>
            <a:endParaRPr lang="en-US" sz="1050" dirty="0"/>
          </a:p>
        </p:txBody>
      </p:sp>
      <p:pic>
        <p:nvPicPr>
          <p:cNvPr id="15" name="Picture 14" descr="finish_times_tal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0" y="1783080"/>
            <a:ext cx="6537960" cy="35570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Validation vs the 2021 Winners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84302" y="1473098"/>
            <a:ext cx="11024006" cy="2730398"/>
          </a:xfrm>
          <a:prstGeom prst="rect">
            <a:avLst/>
          </a:prstGeom>
          <a:solidFill>
            <a:srgbClr val="FFFFFF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pic>
        <p:nvPicPr>
          <p:cNvPr id="7" name="Image 0" descr="mq569lla-valid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4138" y="1587398"/>
            <a:ext cx="4503420" cy="250179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84302" y="4254703"/>
            <a:ext cx="9372600" cy="3300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vs real 2021 winner, with percentage error above each pair, real race configuration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4302" y="4635094"/>
            <a:ext cx="5969203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Each specialist run at the real race setup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Within ~7 to 12% of the 2021 champions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A transparent model should trail the very best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15</a:t>
            </a:r>
            <a:endParaRPr lang="en-US" sz="1050" dirty="0"/>
          </a:p>
        </p:txBody>
      </p:sp>
      <p:sp>
        <p:nvSpPr>
          <p:cNvPr id="23" name="TextBox 22"/>
          <p:cNvSpPr txBox="1"/>
          <p:nvPr/>
        </p:nvSpPr>
        <p:spPr>
          <a:xfrm>
            <a:off x="6400800" y="4526280"/>
            <a:ext cx="5394960" cy="1554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250" b="1">
                <a:solidFill>
                  <a:srgbClr val="B5392A"/>
                </a:solidFill>
                <a:latin typeface="Inter"/>
              </a:rPr>
              <a:t>Roglič</a:t>
            </a:r>
            <a:r>
              <a:rPr sz="1250" b="0">
                <a:solidFill>
                  <a:srgbClr val="1A1714"/>
                </a:solidFill>
                <a:latin typeface="Inter"/>
              </a:rPr>
              <a:t>   Tokyo ITT (men):  59.2 vs 55:04  (+7.5%)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B5392A"/>
                </a:solidFill>
                <a:latin typeface="Inter"/>
              </a:rPr>
              <a:t>van Vleuten</a:t>
            </a:r>
            <a:r>
              <a:rPr sz="1250" b="0">
                <a:solidFill>
                  <a:srgbClr val="1A1714"/>
                </a:solidFill>
                <a:latin typeface="Inter"/>
              </a:rPr>
              <a:t>   Tokyo ITT (women):  33.7 vs 30:13  (+11.6%)</a:t>
            </a:r>
          </a:p>
          <a:p>
            <a:pPr>
              <a:spcAft>
                <a:spcPts val="600"/>
              </a:spcAft>
            </a:pPr>
            <a:r>
              <a:rPr sz="1250" b="1">
                <a:solidFill>
                  <a:srgbClr val="B5392A"/>
                </a:solidFill>
                <a:latin typeface="Inter"/>
              </a:rPr>
              <a:t>Ganna</a:t>
            </a:r>
            <a:r>
              <a:rPr sz="1250" b="0">
                <a:solidFill>
                  <a:srgbClr val="1A1714"/>
                </a:solidFill>
                <a:latin typeface="Inter"/>
              </a:rPr>
              <a:t>   Flanders ITT (men):  53.5 vs 47:48  (+11.9%)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SENSITIVITY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Sensitivity: Wind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84302" y="1524305"/>
            <a:ext cx="4419295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Wind acts only through drag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Flat Flanders is the most exposed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No wind direction, strength only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5320894" y="1524305"/>
            <a:ext cx="6286500" cy="3556102"/>
          </a:xfrm>
          <a:prstGeom prst="rect">
            <a:avLst/>
          </a:prstGeom>
          <a:solidFill>
            <a:srgbClr val="FFFFFF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pic>
        <p:nvPicPr>
          <p:cNvPr id="20" name="Image 0" descr="mq569lla-wind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69941" y="1638605"/>
            <a:ext cx="5989320" cy="3327502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320894" y="5130698"/>
            <a:ext cx="4635094" cy="3300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Finishing-time change vs a uniform headwind (−4…+4 m/s, negative = tailwind), three courses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15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SENSITIVITY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Sensitivity: Power Execution &amp; Parameters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84302" y="1524305"/>
            <a:ext cx="4419295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Scale the power plan ±5 / 10 / 15%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Mild penalty, robust to pacing error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Threshold power is the trait that matters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5320894" y="1524305"/>
            <a:ext cx="6286500" cy="3556102"/>
          </a:xfrm>
          <a:prstGeom prst="rect">
            <a:avLst/>
          </a:prstGeom>
          <a:solidFill>
            <a:srgbClr val="FFFFFF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pic>
        <p:nvPicPr>
          <p:cNvPr id="20" name="Image 0" descr="mq569ll9-power_devi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69941" y="1638605"/>
            <a:ext cx="5989320" cy="3327502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320894" y="5130698"/>
            <a:ext cx="4635094" cy="3300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Finishing-time change vs power deviation from plan (−15…+15%), four riders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15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Limitations &amp; Alternatives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84302" y="1524305"/>
            <a:ext cx="5969203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12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Headwind has strength but no direction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12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Corner penalty is fixed, not speed-dependent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12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Female CdA scaled from male, not measured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12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One simple fatigue rule (cf. critical-power / W′)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921094" y="3733495"/>
            <a:ext cx="4737506" cy="952805"/>
          </a:xfrm>
          <a:prstGeom prst="rect">
            <a:avLst/>
          </a:prstGeom>
          <a:solidFill>
            <a:srgbClr val="1A1714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870802" y="3683203"/>
            <a:ext cx="4737506" cy="952805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035394" y="3797503"/>
            <a:ext cx="4419295" cy="1655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spc="300" kern="0" dirty="0">
                <a:solidFill>
                  <a:srgbClr val="FBF4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TRADE-OFF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035394" y="3974897"/>
            <a:ext cx="4419295" cy="571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FBF4E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We traded physiological detail for transparency. Each limitation maps to a known refinement.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15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EXTENSION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Extension: Team Time Trial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84302" y="1498702"/>
            <a:ext cx="11024006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single-rider model already carries the two ingredients a TTT needs.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84302" y="2413102"/>
            <a:ext cx="5969203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Team's time = the 4th rider across the line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New goal: keep four together as long as possible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Drafting dominates: the slipstream cuts drag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Rotating paceline: hard pull, then recover in the draft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15</a:t>
            </a:r>
            <a:endParaRPr lang="en-US" sz="1050" dirty="0"/>
          </a:p>
        </p:txBody>
      </p:sp>
      <p:pic>
        <p:nvPicPr>
          <p:cNvPr id="20" name="Picture 19" descr="pac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807" y="4160520"/>
            <a:ext cx="9784080" cy="173849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203807" y="5944733"/>
            <a:ext cx="97840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050">
                <a:solidFill>
                  <a:srgbClr val="6B6258"/>
                </a:solidFill>
                <a:latin typeface="Inter"/>
              </a:rPr>
              <a:t>What this shows: riders draft behind the leader and rotate the front; the team's clock is the 4th rider.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CONCLUSION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Conclusion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84302" y="1587398"/>
            <a:ext cx="7366406" cy="76169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The optimizer </a:t>
            </a:r>
            <a:pPr indent="0" marL="0">
              <a:lnSpc>
                <a:spcPct val="118000"/>
              </a:lnSpc>
              <a:buNone/>
            </a:pPr>
            <a:r>
              <a:rPr lang="en-US" sz="2000" b="1" i="1" dirty="0">
                <a:solidFill>
                  <a:srgbClr val="B5392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rediscovers good pacing on its own</a:t>
            </a:r>
            <a:pPr indent="0" marL="0">
              <a:lnSpc>
                <a:spcPct val="118000"/>
              </a:lnSpc>
              <a:buNone/>
            </a:pPr>
            <a:r>
              <a:rPr lang="en-US" sz="20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, and lands within a few percent of the best riders in the world.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84302" y="2730398"/>
            <a:ext cx="7366406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Point mass + a fatigue rule + a 2-knob optimizer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Push climbs, recover descents, hold steady on flats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Within ~7 to 12% of the real 2021 winners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584302" y="4444898"/>
            <a:ext cx="7366406" cy="3813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B5392A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Thank you, Questions?</a:t>
            </a:r>
            <a:endParaRPr lang="en-US" sz="2300" dirty="0"/>
          </a:p>
        </p:txBody>
      </p:sp>
      <p:sp>
        <p:nvSpPr>
          <p:cNvPr id="13" name="Shape 10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pPr algn="r" indent="0" marL="0">
              <a:buNone/>
            </a:pPr>
            <a:r>
              <a:rPr lang="en-US" sz="1050" spc="200" kern="0" dirty="0">
                <a:solidFill>
                  <a:srgbClr val="1A171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/ 15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38328"/>
            <a:ext cx="365760" cy="256032"/>
          </a:xfrm>
          <a:prstGeom prst="rect">
            <a:avLst/>
          </a:prstGeom>
          <a:solidFill>
            <a:srgbClr val="B5392A"/>
          </a:solidFill>
          <a:ln w="25400">
            <a:solidFill>
              <a:srgbClr val="1A1714"/>
            </a:solidFill>
          </a:ln>
        </p:spPr>
        <p:txBody>
          <a:bodyPr wrap="none" rtlCol="0" anchor="ctr" lIns="0" rIns="0" tIns="0" bIns="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A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77494" y="368503"/>
            <a:ext cx="5715000" cy="2029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BACKUP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84302" y="609905"/>
            <a:ext cx="10159898" cy="4956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A1714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Model Derivation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84302" y="1155802"/>
            <a:ext cx="952805" cy="32004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84302" y="1524305"/>
            <a:ext cx="5969203" cy="27944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Start from Newton's second law: a = F / m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Build F from the four force terms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Substitute each force, then step in time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  <a:p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r>
              <a:rPr lang="en-US" sz="1550" b="1" dirty="0">
                <a:solidFill>
                  <a:srgbClr val="B539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■  Units check: forces in N → m/s after ÷m, ×Δt</a:t>
            </a: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pPr indent="0" marL="0">
              <a:lnSpc>
                <a:spcPct val="122000"/>
              </a:lnSpc>
              <a:spcAft>
                <a:spcPts val="600"/>
              </a:spcAft>
              <a:buNone/>
            </a:pP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40080" y="5029200"/>
            <a:ext cx="11091672" cy="950976"/>
          </a:xfrm>
          <a:prstGeom prst="rect">
            <a:avLst/>
          </a:prstGeom>
          <a:solidFill>
            <a:srgbClr val="B5392A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4937760"/>
            <a:ext cx="11091672" cy="950976"/>
          </a:xfrm>
          <a:prstGeom prst="rect">
            <a:avLst/>
          </a:prstGeom>
          <a:solidFill>
            <a:srgbClr val="FFFFFF"/>
          </a:solidFill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5010912"/>
            <a:ext cx="4419295" cy="1527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FULL UPDATE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84302" y="6349594"/>
            <a:ext cx="11024006" cy="0"/>
          </a:xfrm>
          <a:prstGeom prst="line">
            <a:avLst/>
          </a:prstGeom>
          <a:noFill/>
          <a:ln w="25400">
            <a:solidFill>
              <a:srgbClr val="1A171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84302" y="6400800"/>
            <a:ext cx="5715000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25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Profile of a Cyclist · Backup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702698" y="6400800"/>
            <a:ext cx="1904695" cy="1773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B5392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B1</a:t>
            </a:r>
            <a:pPr algn="r" indent="0" marL="0">
              <a:buNone/>
            </a:pPr>
            <a:endParaRPr lang="en-US" sz="1050" dirty="0"/>
          </a:p>
        </p:txBody>
      </p:sp>
      <p:pic>
        <p:nvPicPr>
          <p:cNvPr id="15" name="Picture 14" descr="eq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168" y="5248656"/>
            <a:ext cx="9509760" cy="590702"/>
          </a:xfrm>
          <a:prstGeom prst="rect">
            <a:avLst/>
          </a:prstGeom>
        </p:spPr>
      </p:pic>
      <p:pic>
        <p:nvPicPr>
          <p:cNvPr id="16" name="Picture 15" descr="eq_for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874519"/>
            <a:ext cx="5440680" cy="147401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2026-06-08T12:49:07Z</dcterms:created>
  <dcterms:modified xsi:type="dcterms:W3CDTF">2026-06-08T12:49:07Z</dcterms:modified>
</cp:coreProperties>
</file>