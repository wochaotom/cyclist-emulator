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model how a time trialist should spend power over a course, then let an optimizer find the fastest legal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question is distribution of effort, not total effort — that’s what separates riders of equal capacity.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design choices drive everything: forward-Euler stepping, and reducing strategy to just two interpretable knobs.</a:t>
            </a:r>
            <a:endParaRPr lang="en-US" dirty="0"/>
          </a:p>
          <a:p>
            <a:r>
              <a:t>Detail: 1-second forward-Euler steps; two pacing knobs (hill_factor, flat_boost); optimized with multi-start Nelder–Mead per rider/course.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forces, one update rule — every force is in newtons, divide by mass and multiply by dt to get the velocity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Fatigue is a single threshold rule, and the whole strategy collapses to two numbers the optimizer tunes.</a:t>
            </a:r>
            <a:endParaRPr lang="en-US" dirty="0"/>
          </a:p>
          <a:p>
            <a:r>
              <a:t>Detail: P_base = 0.93·P_threshold, ceiling P_max = 1.5·P_threshold; recovery rate ≈ 20% of the fatigue rate; CdA ≈ 0.20–0.23 m² (TT) / 0.24–0.27 m² (climbers), female ≈ −10%.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courses chosen to span the spectrum — hilly, flat, and technical — against four rider archetypes.</a:t>
            </a:r>
            <a:endParaRPr lang="en-US" dirty="0"/>
          </a:p>
          <a:p>
            <a:r>
              <a:t>Detail: Tokyo lap 22.1 km, Flanders men 43.3 km, custom 5 km; bike ≈ 8 kg (of a sourced 7–14 kg range); W/kg from Valenzuela et al. 2022 (male) and Mateo-March et al. 2022 (female).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power panel against the threshold line — the optimizer spikes on climbs and eases on descents without being told to.</a:t>
            </a:r>
            <a:endParaRPr lang="en-US" dirty="0"/>
          </a:p>
          <a:p>
            <a:r>
              <a:t>Numbers: hill_factor 800→1180, flat_boost 0→90 W; time 62.1→59.2 min (≈ 3 min saved); climb power ≈ 450 W, P_threshold 400 W, P_max ≈ 600 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flat basin is the headline of this slide: many plans tie, so the exact knob values matter less than the strategy shape.</a:t>
            </a:r>
            <a:endParaRPr lang="en-US" dirty="0"/>
          </a:p>
          <a:p>
            <a:r>
              <a:t>Numbers: optimum hill_factor ≈ 1180, flat_boost ≈ 90 W; search bounds 0–2000 / 0–150; steady flat speed ≈ 50 km/h; removing fatigue entirely would cut ≈ 2 more minutes. (The dropped 1-D slices showed a flat valley confirming the basin.)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Ordering is consistent across every course: TT &gt; climber within gender, male &gt; female — exactly what the physics predicts.</a:t>
            </a:r>
            <a:endParaRPr lang="en-US" dirty="0"/>
          </a:p>
          <a:p>
            <a:r>
              <a:t>Numbers (one lap, min) — Tokyo: 29.6 / 33.7 / 32.2 / 36.0; Flanders: 53.5 / 59.9 / 59.3 / 65.2; custom: 6.5 / 7.3 / 7.1 / 7.9 (male_tt / female_tt / male_clm / female_clm).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We’re a few percent slow, consistently — which is the right direction: a transparent model shouldn’t out-ride a world champion.</a:t>
            </a:r>
            <a:endParaRPr lang="en-US" dirty="0"/>
          </a:p>
          <a:p>
            <a:r>
              <a:t>Numbers: Tokyo men 59.22 vs Roglič 55.07 (+7.5%); Tokyo women 33.73 vs van Vleuten 30.22 (+11.6%); Flanders men 53.47 vs Ganna 47.80 (+11.9%). Roglič = Olympic champion; van Vleuten = Olympic champion; Ganna = world champion.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Flanders’ slope is roughly double Tokyo’s and ten times the loop’s — on a flat course, wind is the dominant external variable.</a:t>
            </a:r>
            <a:endParaRPr lang="en-US" dirty="0"/>
          </a:p>
          <a:p>
            <a:r>
              <a:t>Numbers: ≈ 150 / 70 / 16 s per +1 m/s (Flanders / Tokyo / custom). Flanders +4 m/s = +11.28 min, −4 m/s = −8.53 min; Tokyo +4 = +5.28 min; custom +4 = +1.15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takeaways: execution error is forgiving, and threshold power is the single parameter worth training — about two minutes per 10%.</a:t>
            </a:r>
            <a:endParaRPr lang="en-US" dirty="0"/>
          </a:p>
          <a:p>
            <a:r>
              <a:t>Numbers: 10% power shortfall ≈ 1.6–2.0 min (Tokyo). Re-optimizing ±10%: threshold power 63.0 / 59.2 / 57.1; CdA 57.4 / 59.2 / 61.0; mass 58.0 / 59.2 / 60.5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traded physiological detail for transparency and speed; each limitation maps to a concrete, known refinement.</a:t>
            </a:r>
            <a:endParaRPr lang="en-US" dirty="0"/>
          </a:p>
          <a:p>
            <a:r>
              <a:t>Detail: female CdA ≈ −10% vs male (assumption). Refinements: direction-dependent wind u = u₀·cos(α−β); physical (speed-dependent) cornering; a critical-power / W′ fatigue model (Ding et al. 2022).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single-rider model already has the two pieces a TTT needs — a per-rider drag area and a per-rider fatigue budget.</a:t>
            </a:r>
            <a:endParaRPr lang="en-US" dirty="0"/>
          </a:p>
          <a:p>
            <a:r>
              <a:t>Detail: extends our model by scaling a sheltered rider's CdA by a draft factor and dropping the weakest once four can still finish — it already carries per-rider CdA and per-rider fatigue.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line to remember: the model rediscovers good pacing on its own and gets within a few percent of the best riders in the world.</a:t>
            </a:r>
            <a:endParaRPr lang="en-US" dirty="0"/>
          </a:p>
          <a:p>
            <a:r>
              <a:t>Close: ≈ 3 min saved vs the baseline plan; wind dominates flat courses; the plan is robust to ordinary execution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why optimal knobs differ across riders — point to the flat basin; they’re all near the same finishing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back up the claim that the strategy generalizes — only the magnitudes change across riders.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step-by-step for the methods-curious in Q&amp;A — it’s just Newton’s second law applied per second.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P_MASTER">
    <p:bg>
      <p:bgPr>
        <a:solidFill>
          <a:srgbClr val="F0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0195" y="190195"/>
            <a:ext cx="165506" cy="19202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3" name="Shape 1"/>
          <p:cNvSpPr/>
          <p:nvPr/>
        </p:nvSpPr>
        <p:spPr>
          <a:xfrm>
            <a:off x="190195" y="190195"/>
            <a:ext cx="19202" cy="165506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4" name="Shape 2"/>
          <p:cNvSpPr/>
          <p:nvPr/>
        </p:nvSpPr>
        <p:spPr>
          <a:xfrm>
            <a:off x="11835994" y="6674206"/>
            <a:ext cx="165506" cy="19202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5" name="Shape 3"/>
          <p:cNvSpPr/>
          <p:nvPr/>
        </p:nvSpPr>
        <p:spPr>
          <a:xfrm>
            <a:off x="11982298" y="6508699"/>
            <a:ext cx="19202" cy="165506"/>
          </a:xfrm>
          <a:prstGeom prst="rect">
            <a:avLst/>
          </a:prstGeom>
          <a:solidFill>
            <a:srgbClr val="1A1714"/>
          </a:solidFill>
          <a:ln/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9806" y="279806"/>
            <a:ext cx="11632997" cy="6299302"/>
          </a:xfrm>
          <a:prstGeom prst="rect">
            <a:avLst/>
          </a:prstGeom>
          <a:ln w="25400">
            <a:solidFill>
              <a:srgbClr val="1A1714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" y="21488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B539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2022 MCM PROBLEM A · UCLA MATH 142 · GROUP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1A171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Power Profile of a Cyclist:</a:t>
            </a:r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
</a:t>
            </a:r>
            <a:endParaRPr lang="en-US" sz="5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800" b="1" i="1" dirty="0">
                <a:solidFill>
                  <a:srgbClr val="B539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Optimal Pacing</a:t>
            </a:r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1A171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for the Time Trial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822960" y="4617720"/>
            <a:ext cx="2194560" cy="38405"/>
          </a:xfrm>
          <a:prstGeom prst="rect">
            <a:avLst/>
          </a:prstGeom>
          <a:solidFill>
            <a:srgbClr val="B5392A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4800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courses · 4 rider profiles · </a:t>
            </a:r>
            <a:pPr indent="0" marL="0">
              <a:buNone/>
            </a:pPr>
            <a:r>
              <a:rPr lang="en-US" sz="1700" b="1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finishing within ~7–12% of the 2021 winners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2960" y="56692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4   ·   </a:t>
            </a:r>
            <a:pPr indent="0" marL="0">
              <a:buNone/>
            </a:pPr>
            <a:r>
              <a:rPr lang="en-US" sz="1250" b="1" dirty="0">
                <a:solidFill>
                  <a:srgbClr val="1A17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 Miller</a:t>
            </a:r>
            <a:pPr indent="0" marL="0">
              <a:buNone/>
            </a:pPr>
            <a:r>
              <a:rPr lang="en-US" sz="1250" dirty="0">
                <a:solidFill>
                  <a:srgbClr val="6B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</a:t>
            </a:r>
            <a:pPr indent="0" marL="0">
              <a:buNone/>
            </a:pPr>
            <a:r>
              <a:rPr lang="en-US" sz="1250" b="1" dirty="0">
                <a:solidFill>
                  <a:srgbClr val="1A17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Carter Dandridge</a:t>
            </a:r>
            <a:pPr indent="0" marL="0">
              <a:buNone/>
            </a:pPr>
            <a:r>
              <a:rPr lang="en-US" sz="1250" dirty="0">
                <a:solidFill>
                  <a:srgbClr val="6B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</a:t>
            </a:r>
            <a:pPr indent="0" marL="0">
              <a:buNone/>
            </a:pPr>
            <a:r>
              <a:rPr lang="en-US" sz="1250" b="1" dirty="0">
                <a:solidFill>
                  <a:srgbClr val="1A17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Prannay Veerabahu</a:t>
            </a:r>
            <a:pPr indent="0" marL="0">
              <a:buNone/>
            </a:pPr>
            <a:r>
              <a:rPr lang="en-US" sz="1250" dirty="0">
                <a:solidFill>
                  <a:srgbClr val="6B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</a:t>
            </a:r>
            <a:pPr indent="0" marL="0">
              <a:buNone/>
            </a:pPr>
            <a:r>
              <a:rPr lang="en-US" sz="1250" b="1" dirty="0">
                <a:solidFill>
                  <a:srgbClr val="1A17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Dennis Lee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38328"/>
            <a:ext cx="365760" cy="256032"/>
          </a:xfrm>
          <a:prstGeom prst="rect">
            <a:avLst/>
          </a:prstGeom>
          <a:solidFill>
            <a:srgbClr val="B5392A"/>
          </a:solidFill>
          <a:ln w="25400">
            <a:solidFill>
              <a:srgbClr val="1A1714"/>
            </a:solidFill>
          </a:ln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77494" y="368503"/>
            <a:ext cx="5715000" cy="2029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MOTIVATION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84302" y="609905"/>
            <a:ext cx="10159898" cy="4956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A171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Problem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84302" y="1155802"/>
            <a:ext cx="952805" cy="32004"/>
          </a:xfrm>
          <a:prstGeom prst="rect">
            <a:avLst/>
          </a:prstGeom>
          <a:solidFill>
            <a:srgbClr val="B5392A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84302" y="1524305"/>
            <a:ext cx="5969203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000" b="1" dirty="0">
                <a:solidFill>
                  <a:srgbClr val="1A171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Riders of equal fitness are separated by </a:t>
            </a:r>
            <a:pPr indent="0" marL="0">
              <a:lnSpc>
                <a:spcPct val="118000"/>
              </a:lnSpc>
              <a:buNone/>
            </a:pPr>
            <a:r>
              <a:rPr lang="en-US" sz="2000" b="1" i="1" dirty="0">
                <a:solidFill>
                  <a:srgbClr val="B539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how</a:t>
            </a:r>
            <a:pPr indent="0" marL="0">
              <a:lnSpc>
                <a:spcPct val="118000"/>
              </a:lnSpc>
              <a:buNone/>
            </a:pPr>
            <a:r>
              <a:rPr lang="en-US" sz="2000" b="1" dirty="0">
                <a:solidFill>
                  <a:srgbClr val="1A171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they spend power, not how much.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84302" y="2413102"/>
            <a:ext cx="5969203" cy="27944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n-US" sz="1750" b="1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 Same fitness: the race is won on how power is spent</a:t>
            </a: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endParaRPr lang="en-US" sz="1750" dirty="0"/>
          </a:p>
          <a:p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n-US" sz="1750" b="1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 No one can hold a single power the whole way</a:t>
            </a: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endParaRPr lang="en-US" sz="1750" dirty="0"/>
          </a:p>
          <a:p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n-US" sz="1750" b="1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 Hills, descents, wind: every metre changes speed-per-watt</a:t>
            </a: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6921094" y="3931920"/>
            <a:ext cx="4737506" cy="1143000"/>
          </a:xfrm>
          <a:prstGeom prst="rect">
            <a:avLst/>
          </a:prstGeom>
          <a:solidFill>
            <a:srgbClr val="1A1714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870802" y="3840480"/>
            <a:ext cx="4737506" cy="1143000"/>
          </a:xfrm>
          <a:prstGeom prst="rect">
            <a:avLst/>
          </a:prstGeom>
          <a:solidFill>
            <a:srgbClr val="B5392A"/>
          </a:solidFill>
          <a:ln w="25400">
            <a:solidFill>
              <a:srgbClr val="1A171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035394" y="3950208"/>
            <a:ext cx="4419295" cy="1655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FBF4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CORE QUESTION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035394" y="4133087"/>
            <a:ext cx="4419295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FBF4E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Distribution of effort, not total effort. That is what separates riders of equal capacity.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84302" y="6349594"/>
            <a:ext cx="11024006" cy="0"/>
          </a:xfrm>
          <a:prstGeom prst="line">
            <a:avLst/>
          </a:prstGeom>
          <a:noFill/>
          <a:ln w="25400">
            <a:solidFill>
              <a:srgbClr val="1A1714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84302" y="6400800"/>
            <a:ext cx="5715000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Profile of a Cyclist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702698" y="6400800"/>
            <a:ext cx="1904695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B539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pPr algn="r" indent="0" marL="0">
              <a:buNone/>
            </a:pPr>
            <a:r>
              <a:rPr lang="en-US" sz="1050" spc="200" kern="0" dirty="0">
                <a:solidFill>
                  <a:srgbClr val="1A171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15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38328"/>
            <a:ext cx="365760" cy="256032"/>
          </a:xfrm>
          <a:prstGeom prst="rect">
            <a:avLst/>
          </a:prstGeom>
          <a:solidFill>
            <a:srgbClr val="B5392A"/>
          </a:solidFill>
          <a:ln w="25400">
            <a:solidFill>
              <a:srgbClr val="1A1714"/>
            </a:solidFill>
          </a:ln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77494" y="368503"/>
            <a:ext cx="5715000" cy="2029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84302" y="609905"/>
            <a:ext cx="10159898" cy="4956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A171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Our Approach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84302" y="1155802"/>
            <a:ext cx="952805" cy="32004"/>
          </a:xfrm>
          <a:prstGeom prst="rect">
            <a:avLst/>
          </a:prstGeom>
          <a:solidFill>
            <a:srgbClr val="B5392A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84302" y="1498702"/>
            <a:ext cx="11024006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000" b="1" dirty="0">
                <a:solidFill>
                  <a:srgbClr val="1A171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How the model works: simulate the ride, then let an optimizer find the fastest plan.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584302" y="6349594"/>
            <a:ext cx="11024006" cy="0"/>
          </a:xfrm>
          <a:prstGeom prst="line">
            <a:avLst/>
          </a:prstGeom>
          <a:noFill/>
          <a:ln w="25400">
            <a:solidFill>
              <a:srgbClr val="1A1714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84302" y="6400800"/>
            <a:ext cx="5715000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Profile of a Cyclist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702698" y="6400800"/>
            <a:ext cx="1904695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B539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pPr algn="r" indent="0" marL="0">
              <a:buNone/>
            </a:pPr>
            <a:r>
              <a:rPr lang="en-US" sz="1050" spc="200" kern="0" dirty="0">
                <a:solidFill>
                  <a:srgbClr val="1A171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15</a:t>
            </a:r>
            <a:endParaRPr lang="en-US" sz="1050" dirty="0"/>
          </a:p>
        </p:txBody>
      </p:sp>
      <p:pic>
        <p:nvPicPr>
          <p:cNvPr id="39" name="Picture 38" descr="model_lo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971800"/>
            <a:ext cx="10698480" cy="26791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38328"/>
            <a:ext cx="365760" cy="256032"/>
          </a:xfrm>
          <a:prstGeom prst="rect">
            <a:avLst/>
          </a:prstGeom>
          <a:solidFill>
            <a:srgbClr val="B5392A"/>
          </a:solidFill>
          <a:ln w="25400">
            <a:solidFill>
              <a:srgbClr val="1A1714"/>
            </a:solidFill>
          </a:ln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77494" y="368503"/>
            <a:ext cx="5715000" cy="2029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84302" y="609905"/>
            <a:ext cx="10159898" cy="4956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A171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Forces &amp; the Discrete Update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84302" y="1155802"/>
            <a:ext cx="952805" cy="32004"/>
          </a:xfrm>
          <a:prstGeom prst="rect">
            <a:avLst/>
          </a:prstGeom>
          <a:solidFill>
            <a:srgbClr val="B5392A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84302" y="1524305"/>
            <a:ext cx="5969203" cy="27944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550" b="1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 Net force = drive − drag − gravity − rolling resistance</a:t>
            </a: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endParaRPr lang="en-US" sz="1550" dirty="0"/>
          </a:p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550" b="1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 Drag grows with the square of speed + wind</a:t>
            </a: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endParaRPr lang="en-US" sz="1550" dirty="0"/>
          </a:p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550" b="1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 Each second: net force → new speed (forward-Euler)</a:t>
            </a: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0080" y="5120640"/>
            <a:ext cx="11091672" cy="950976"/>
          </a:xfrm>
          <a:prstGeom prst="rect">
            <a:avLst/>
          </a:prstGeom>
          <a:solidFill>
            <a:srgbClr val="B5392A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48640" y="5029200"/>
            <a:ext cx="11091672" cy="950976"/>
          </a:xfrm>
          <a:prstGeom prst="rect">
            <a:avLst/>
          </a:prstGeom>
          <a:solidFill>
            <a:srgbClr val="FFFFFF"/>
          </a:solidFill>
          <a:ln w="25400">
            <a:solidFill>
              <a:srgbClr val="1A1714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77240" y="5102352"/>
            <a:ext cx="4419295" cy="1527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B539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DISCRETE UPDATE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84302" y="6349594"/>
            <a:ext cx="11024006" cy="0"/>
          </a:xfrm>
          <a:prstGeom prst="line">
            <a:avLst/>
          </a:prstGeom>
          <a:noFill/>
          <a:ln w="25400">
            <a:solidFill>
              <a:srgbClr val="1A1714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84302" y="6400800"/>
            <a:ext cx="5715000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Profile of a Cyclist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702698" y="6400800"/>
            <a:ext cx="1904695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B539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pPr algn="r" indent="0" marL="0">
              <a:buNone/>
            </a:pPr>
            <a:r>
              <a:rPr lang="en-US" sz="1050" spc="200" kern="0" dirty="0">
                <a:solidFill>
                  <a:srgbClr val="1A171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15</a:t>
            </a:r>
            <a:endParaRPr lang="en-US" sz="1050" dirty="0"/>
          </a:p>
        </p:txBody>
      </p:sp>
      <p:pic>
        <p:nvPicPr>
          <p:cNvPr id="21" name="Picture 20" descr="eq_upd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168" y="5358384"/>
            <a:ext cx="9509760" cy="590702"/>
          </a:xfrm>
          <a:prstGeom prst="rect">
            <a:avLst/>
          </a:prstGeom>
        </p:spPr>
      </p:pic>
      <p:pic>
        <p:nvPicPr>
          <p:cNvPr id="22" name="Picture 21" descr="force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417320"/>
            <a:ext cx="5120640" cy="35844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38328"/>
            <a:ext cx="365760" cy="256032"/>
          </a:xfrm>
          <a:prstGeom prst="rect">
            <a:avLst/>
          </a:prstGeom>
          <a:solidFill>
            <a:srgbClr val="B5392A"/>
          </a:solidFill>
          <a:ln w="25400">
            <a:solidFill>
              <a:srgbClr val="1A1714"/>
            </a:solidFill>
          </a:ln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77494" y="368503"/>
            <a:ext cx="5715000" cy="2029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84302" y="609905"/>
            <a:ext cx="10159898" cy="4956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A171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Fatigue &amp; the Two Pacing Knobs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84302" y="1155802"/>
            <a:ext cx="952805" cy="32004"/>
          </a:xfrm>
          <a:prstGeom prst="rect">
            <a:avLst/>
          </a:prstGeom>
          <a:solidFill>
            <a:srgbClr val="B5392A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527048"/>
            <a:ext cx="11091672" cy="27944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550" b="1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 Fatigue builds above your threshold, recovers below it</a:t>
            </a: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endParaRPr lang="en-US" sz="1550" dirty="0"/>
          </a:p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550" b="1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 Two knobs, hill_factor and flat_boost, set the whole plan</a:t>
            </a: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endParaRPr lang="en-US" sz="1550" dirty="0"/>
          </a:p>
        </p:txBody>
      </p:sp>
      <p:sp>
        <p:nvSpPr>
          <p:cNvPr id="32" name="Shape 30"/>
          <p:cNvSpPr/>
          <p:nvPr/>
        </p:nvSpPr>
        <p:spPr>
          <a:xfrm>
            <a:off x="584302" y="6349594"/>
            <a:ext cx="11024006" cy="0"/>
          </a:xfrm>
          <a:prstGeom prst="line">
            <a:avLst/>
          </a:prstGeom>
          <a:noFill/>
          <a:ln w="25400">
            <a:solidFill>
              <a:srgbClr val="1A1714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84302" y="6400800"/>
            <a:ext cx="5715000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Profile of a Cyclist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702698" y="6400800"/>
            <a:ext cx="1904695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B539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pPr algn="r" indent="0" marL="0">
              <a:buNone/>
            </a:pPr>
            <a:r>
              <a:rPr lang="en-US" sz="1050" spc="200" kern="0" dirty="0">
                <a:solidFill>
                  <a:srgbClr val="1A171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15</a:t>
            </a:r>
            <a:endParaRPr lang="en-US" sz="1050" dirty="0"/>
          </a:p>
        </p:txBody>
      </p:sp>
      <p:pic>
        <p:nvPicPr>
          <p:cNvPr id="35" name="Picture 34" descr="fatigue_kno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2743200"/>
            <a:ext cx="1078992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38328"/>
            <a:ext cx="365760" cy="256032"/>
          </a:xfrm>
          <a:prstGeom prst="rect">
            <a:avLst/>
          </a:prstGeom>
          <a:solidFill>
            <a:srgbClr val="B5392A"/>
          </a:solidFill>
          <a:ln w="25400">
            <a:solidFill>
              <a:srgbClr val="1A1714"/>
            </a:solidFill>
          </a:ln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77494" y="368503"/>
            <a:ext cx="5715000" cy="2029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84302" y="609905"/>
            <a:ext cx="10159898" cy="4956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A171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Courses &amp; Riders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84302" y="1155802"/>
            <a:ext cx="952805" cy="32004"/>
          </a:xfrm>
          <a:prstGeom prst="rect">
            <a:avLst/>
          </a:prstGeom>
          <a:solidFill>
            <a:srgbClr val="B5392A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84302" y="1498702"/>
            <a:ext cx="3581705" cy="952805"/>
          </a:xfrm>
          <a:prstGeom prst="rect">
            <a:avLst/>
          </a:prstGeom>
          <a:solidFill>
            <a:srgbClr val="FFFFFF"/>
          </a:solidFill>
          <a:ln w="25400">
            <a:solidFill>
              <a:srgbClr val="1A171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7006" y="1600200"/>
            <a:ext cx="3327502" cy="1399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B539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COURSE 01 · HILLY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37006" y="1765706"/>
            <a:ext cx="332750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71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Tokyo 2021 ITT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7006" y="2031797"/>
            <a:ext cx="3327502" cy="3685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7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22.1 km lap, men 2 laps = 44.2 km, women 1 lap.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04995" y="1498702"/>
            <a:ext cx="3581705" cy="952805"/>
          </a:xfrm>
          <a:prstGeom prst="rect">
            <a:avLst/>
          </a:prstGeom>
          <a:solidFill>
            <a:srgbClr val="FFFFFF"/>
          </a:solidFill>
          <a:ln w="25400">
            <a:solidFill>
              <a:srgbClr val="1A171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457700" y="1600200"/>
            <a:ext cx="3327502" cy="1399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B539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COURSE 02 · FLAT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457700" y="1765706"/>
            <a:ext cx="332750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71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Flanders 2021 Worlds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57700" y="2031797"/>
            <a:ext cx="3327502" cy="3685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7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Flat, fast, men 43.3 km, women 30.3 km.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26603" y="1498702"/>
            <a:ext cx="3581705" cy="952805"/>
          </a:xfrm>
          <a:prstGeom prst="rect">
            <a:avLst/>
          </a:prstGeom>
          <a:solidFill>
            <a:srgbClr val="FFFFFF"/>
          </a:solidFill>
          <a:ln w="25400">
            <a:solidFill>
              <a:srgbClr val="1A1714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178394" y="1600200"/>
            <a:ext cx="3327502" cy="1399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B539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COURSE 03 · TECHNICAL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178394" y="1765706"/>
            <a:ext cx="332750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71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Custom loop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78394" y="2031797"/>
            <a:ext cx="3327502" cy="3685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7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km, 4 sharp turns, one steep ramp.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84302" y="2616098"/>
            <a:ext cx="2680106" cy="698602"/>
          </a:xfrm>
          <a:prstGeom prst="rect">
            <a:avLst/>
          </a:prstGeom>
          <a:solidFill>
            <a:srgbClr val="F0EAE0"/>
          </a:solidFill>
          <a:ln w="25400">
            <a:solidFill>
              <a:srgbClr val="1A1714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11403" y="2717597"/>
            <a:ext cx="2488997" cy="2157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7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Male TT specialist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1403" y="2958998"/>
            <a:ext cx="2488997" cy="2916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Heavier, more powerful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65906" y="2616098"/>
            <a:ext cx="2680106" cy="698602"/>
          </a:xfrm>
          <a:prstGeom prst="rect">
            <a:avLst/>
          </a:prstGeom>
          <a:solidFill>
            <a:srgbClr val="F0EAE0"/>
          </a:solidFill>
          <a:ln w="25400">
            <a:solidFill>
              <a:srgbClr val="1A1714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492094" y="2717597"/>
            <a:ext cx="2488997" cy="2157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7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Female TT specialist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92094" y="2958998"/>
            <a:ext cx="2488997" cy="2916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absolute power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46597" y="2616098"/>
            <a:ext cx="2680106" cy="698602"/>
          </a:xfrm>
          <a:prstGeom prst="rect">
            <a:avLst/>
          </a:prstGeom>
          <a:solidFill>
            <a:srgbClr val="F0EAE0"/>
          </a:solidFill>
          <a:ln w="25400">
            <a:solidFill>
              <a:srgbClr val="1A1714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273698" y="2717597"/>
            <a:ext cx="2488997" cy="2157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7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Male climber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73698" y="2958998"/>
            <a:ext cx="2488997" cy="2916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Lighter, better W/kg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928202" y="2616098"/>
            <a:ext cx="2680106" cy="698602"/>
          </a:xfrm>
          <a:prstGeom prst="rect">
            <a:avLst/>
          </a:prstGeom>
          <a:solidFill>
            <a:srgbClr val="F0EAE0"/>
          </a:solidFill>
          <a:ln w="25400">
            <a:solidFill>
              <a:srgbClr val="1A1714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9055303" y="2717597"/>
            <a:ext cx="2488997" cy="2157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7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Female climber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055303" y="2958998"/>
            <a:ext cx="2488997" cy="2916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Lightest, biggest drag share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84302" y="6349594"/>
            <a:ext cx="11024006" cy="0"/>
          </a:xfrm>
          <a:prstGeom prst="line">
            <a:avLst/>
          </a:prstGeom>
          <a:noFill/>
          <a:ln w="25400">
            <a:solidFill>
              <a:srgbClr val="1A1714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584302" y="6400800"/>
            <a:ext cx="5715000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Profile of a Cyclist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702698" y="6400800"/>
            <a:ext cx="1904695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B539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pPr algn="r" indent="0" marL="0">
              <a:buNone/>
            </a:pPr>
            <a:r>
              <a:rPr lang="en-US" sz="1050" spc="200" kern="0" dirty="0">
                <a:solidFill>
                  <a:srgbClr val="1A171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15</a:t>
            </a:r>
            <a:endParaRPr lang="en-US" sz="1050" dirty="0"/>
          </a:p>
        </p:txBody>
      </p:sp>
      <p:pic>
        <p:nvPicPr>
          <p:cNvPr id="42" name="Picture 41" descr="course_profi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4251960"/>
            <a:ext cx="10972800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38328"/>
            <a:ext cx="365760" cy="256032"/>
          </a:xfrm>
          <a:prstGeom prst="rect">
            <a:avLst/>
          </a:prstGeom>
          <a:solidFill>
            <a:srgbClr val="B5392A"/>
          </a:solidFill>
          <a:ln w="25400">
            <a:solidFill>
              <a:srgbClr val="1A1714"/>
            </a:solidFill>
          </a:ln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77494" y="368503"/>
            <a:ext cx="5715000" cy="2029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84302" y="609905"/>
            <a:ext cx="10159898" cy="4956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A171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Optimal Pacing: The Diagnostic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84302" y="1155802"/>
            <a:ext cx="952805" cy="32004"/>
          </a:xfrm>
          <a:prstGeom prst="rect">
            <a:avLst/>
          </a:prstGeom>
          <a:solidFill>
            <a:srgbClr val="B5392A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554480"/>
            <a:ext cx="5394960" cy="27944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550" b="1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 Gradient, power and fatigue, all vs time</a:t>
            </a: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endParaRPr lang="en-US" sz="1550" dirty="0"/>
          </a:p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550" b="1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 Baseline (blue) vs optimal (red), male TT</a:t>
            </a: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endParaRPr lang="en-US" sz="1550" dirty="0"/>
          </a:p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550" b="1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 Above threshold on climbs, eased on descents</a:t>
            </a: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640080" y="4553712"/>
            <a:ext cx="5303520" cy="713232"/>
          </a:xfrm>
          <a:prstGeom prst="rect">
            <a:avLst/>
          </a:prstGeom>
          <a:solidFill>
            <a:srgbClr val="1A1714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48640" y="4462272"/>
            <a:ext cx="5303520" cy="713232"/>
          </a:xfrm>
          <a:prstGeom prst="rect">
            <a:avLst/>
          </a:prstGeom>
          <a:solidFill>
            <a:srgbClr val="B5392A"/>
          </a:solidFill>
          <a:ln w="25400">
            <a:solidFill>
              <a:srgbClr val="1A1714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13232" y="4553712"/>
            <a:ext cx="5029200" cy="1655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FBF4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HEADLINE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13232" y="4736592"/>
            <a:ext cx="5029200" cy="3813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FBF4E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Recovers the intuitive strategy, unprompted.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584302" y="6349594"/>
            <a:ext cx="11024006" cy="0"/>
          </a:xfrm>
          <a:prstGeom prst="line">
            <a:avLst/>
          </a:prstGeom>
          <a:noFill/>
          <a:ln w="25400">
            <a:solidFill>
              <a:srgbClr val="1A1714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584302" y="6400800"/>
            <a:ext cx="5715000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Profile of a Cyclist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9702698" y="6400800"/>
            <a:ext cx="1904695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B539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pPr algn="r" indent="0" marL="0">
              <a:buNone/>
            </a:pPr>
            <a:r>
              <a:rPr lang="en-US" sz="1050" spc="200" kern="0" dirty="0">
                <a:solidFill>
                  <a:srgbClr val="1A171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15</a:t>
            </a:r>
            <a:endParaRPr lang="en-US" sz="1050" dirty="0"/>
          </a:p>
        </p:txBody>
      </p:sp>
      <p:pic>
        <p:nvPicPr>
          <p:cNvPr id="30" name="Picture 29" descr="diag_talk_male_t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508760"/>
            <a:ext cx="5532120" cy="428853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217920" y="5870448"/>
            <a:ext cx="54864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B6258"/>
                </a:solidFill>
                <a:latin typeface="Inter"/>
              </a:rPr>
              <a:t>Optimal vs baseline pacing, male TT specialist, Tokyo (2 laps)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38328"/>
            <a:ext cx="365760" cy="256032"/>
          </a:xfrm>
          <a:prstGeom prst="rect">
            <a:avLst/>
          </a:prstGeom>
          <a:solidFill>
            <a:srgbClr val="B5392A"/>
          </a:solidFill>
          <a:ln w="25400">
            <a:solidFill>
              <a:srgbClr val="1A1714"/>
            </a:solidFill>
          </a:ln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77494" y="368503"/>
            <a:ext cx="5715000" cy="2029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84302" y="609905"/>
            <a:ext cx="10159898" cy="4956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A171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Optimization Landscape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84302" y="1155802"/>
            <a:ext cx="952805" cy="32004"/>
          </a:xfrm>
          <a:prstGeom prst="rect">
            <a:avLst/>
          </a:prstGeom>
          <a:solidFill>
            <a:srgbClr val="B5392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48640" y="1554480"/>
            <a:ext cx="5120640" cy="27944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550" b="1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 Completion time over the two knobs</a:t>
            </a: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endParaRPr lang="en-US" sz="1550" dirty="0"/>
          </a:p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550" b="1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 Broad dark basin: many plans nearly tie</a:t>
            </a: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endParaRPr lang="en-US" sz="1550" dirty="0"/>
          </a:p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550" b="1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 Strategy shape matters more than the exact numbers</a:t>
            </a: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endParaRPr lang="en-US" sz="1550" dirty="0"/>
          </a:p>
        </p:txBody>
      </p:sp>
      <p:sp>
        <p:nvSpPr>
          <p:cNvPr id="23" name="Shape 20"/>
          <p:cNvSpPr/>
          <p:nvPr/>
        </p:nvSpPr>
        <p:spPr>
          <a:xfrm>
            <a:off x="584302" y="6349594"/>
            <a:ext cx="11024006" cy="0"/>
          </a:xfrm>
          <a:prstGeom prst="line">
            <a:avLst/>
          </a:prstGeom>
          <a:noFill/>
          <a:ln w="25400">
            <a:solidFill>
              <a:srgbClr val="1A1714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584302" y="6400800"/>
            <a:ext cx="5715000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Profile of a Cyclist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9702698" y="6400800"/>
            <a:ext cx="1904695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B539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pPr algn="r" indent="0" marL="0">
              <a:buNone/>
            </a:pPr>
            <a:r>
              <a:rPr lang="en-US" sz="1050" spc="200" kern="0" dirty="0">
                <a:solidFill>
                  <a:srgbClr val="1A171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15</a:t>
            </a:r>
            <a:endParaRPr lang="en-US" sz="1050" dirty="0"/>
          </a:p>
        </p:txBody>
      </p:sp>
      <p:pic>
        <p:nvPicPr>
          <p:cNvPr id="26" name="Picture 25" descr="heatmap_tal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50876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38328"/>
            <a:ext cx="365760" cy="256032"/>
          </a:xfrm>
          <a:prstGeom prst="rect">
            <a:avLst/>
          </a:prstGeom>
          <a:solidFill>
            <a:srgbClr val="B5392A"/>
          </a:solidFill>
          <a:ln w="25400">
            <a:solidFill>
              <a:srgbClr val="1A1714"/>
            </a:solidFill>
          </a:ln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77494" y="368503"/>
            <a:ext cx="5715000" cy="2029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84302" y="609905"/>
            <a:ext cx="10159898" cy="4956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A171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Results Across Riders &amp; Courses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84302" y="1155802"/>
            <a:ext cx="952805" cy="32004"/>
          </a:xfrm>
          <a:prstGeom prst="rect">
            <a:avLst/>
          </a:prstGeom>
          <a:solidFill>
            <a:srgbClr val="B5392A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84302" y="1524305"/>
            <a:ext cx="4419295" cy="27944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550" b="1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 All 4 riders × 3 courses, one lap each</a:t>
            </a: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endParaRPr lang="en-US" sz="1550" dirty="0"/>
          </a:p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550" b="1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 TT beats climber; men ahead of women</a:t>
            </a: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endParaRPr lang="en-US" sz="1550" dirty="0"/>
          </a:p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550" b="1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 Climbers lose time on flats (more drag)</a:t>
            </a: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584302" y="6349594"/>
            <a:ext cx="11024006" cy="0"/>
          </a:xfrm>
          <a:prstGeom prst="line">
            <a:avLst/>
          </a:prstGeom>
          <a:noFill/>
          <a:ln w="25400">
            <a:solidFill>
              <a:srgbClr val="1A1714"/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584302" y="6400800"/>
            <a:ext cx="5715000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Profile of a Cyclist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9702698" y="6400800"/>
            <a:ext cx="1904695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B539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pPr algn="r" indent="0" marL="0">
              <a:buNone/>
            </a:pPr>
            <a:r>
              <a:rPr lang="en-US" sz="1050" spc="200" kern="0" dirty="0">
                <a:solidFill>
                  <a:srgbClr val="1A171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15</a:t>
            </a:r>
            <a:endParaRPr lang="en-US" sz="1050" dirty="0"/>
          </a:p>
        </p:txBody>
      </p:sp>
      <p:pic>
        <p:nvPicPr>
          <p:cNvPr id="15" name="Picture 14" descr="finish_times_tal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1783080"/>
            <a:ext cx="6537960" cy="35570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38328"/>
            <a:ext cx="365760" cy="256032"/>
          </a:xfrm>
          <a:prstGeom prst="rect">
            <a:avLst/>
          </a:prstGeom>
          <a:solidFill>
            <a:srgbClr val="B5392A"/>
          </a:solidFill>
          <a:ln w="25400">
            <a:solidFill>
              <a:srgbClr val="1A1714"/>
            </a:solidFill>
          </a:ln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77494" y="368503"/>
            <a:ext cx="5715000" cy="2029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84302" y="609905"/>
            <a:ext cx="10159898" cy="4956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A171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Validation vs the 2021 Winners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84302" y="1155802"/>
            <a:ext cx="952805" cy="32004"/>
          </a:xfrm>
          <a:prstGeom prst="rect">
            <a:avLst/>
          </a:prstGeom>
          <a:solidFill>
            <a:srgbClr val="B5392A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84302" y="1473098"/>
            <a:ext cx="11024006" cy="2730398"/>
          </a:xfrm>
          <a:prstGeom prst="rect">
            <a:avLst/>
          </a:prstGeom>
          <a:solidFill>
            <a:srgbClr val="FFFFFF"/>
          </a:solidFill>
          <a:ln w="25400">
            <a:solidFill>
              <a:srgbClr val="1A1714"/>
            </a:solidFill>
            <a:prstDash val="solid"/>
          </a:ln>
        </p:spPr>
        <p:txBody>
          <a:bodyPr/>
          <a:p/>
        </p:txBody>
      </p:sp>
      <p:pic>
        <p:nvPicPr>
          <p:cNvPr id="7" name="Image 0" descr="mq569lla-valid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4138" y="1587398"/>
            <a:ext cx="4503420" cy="250179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84302" y="4254703"/>
            <a:ext cx="9372600" cy="3300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vs real 2021 winner, with percentage error above each pair, real race configuration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84302" y="4635094"/>
            <a:ext cx="5969203" cy="27944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550" b="1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 Each specialist run at the real race setup</a:t>
            </a: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endParaRPr lang="en-US" sz="1550" dirty="0"/>
          </a:p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550" b="1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 Within ~7 to 12% of the 2021 champions</a:t>
            </a: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endParaRPr lang="en-US" sz="1550" dirty="0"/>
          </a:p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550" b="1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 A transparent model should trail the very best</a:t>
            </a: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584302" y="6349594"/>
            <a:ext cx="11024006" cy="0"/>
          </a:xfrm>
          <a:prstGeom prst="line">
            <a:avLst/>
          </a:prstGeom>
          <a:noFill/>
          <a:ln w="25400">
            <a:solidFill>
              <a:srgbClr val="1A1714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584302" y="6400800"/>
            <a:ext cx="5715000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Profile of a Cyclist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9702698" y="6400800"/>
            <a:ext cx="1904695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B539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pPr algn="r" indent="0" marL="0">
              <a:buNone/>
            </a:pPr>
            <a:r>
              <a:rPr lang="en-US" sz="1050" spc="200" kern="0" dirty="0">
                <a:solidFill>
                  <a:srgbClr val="1A171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15</a:t>
            </a:r>
            <a:endParaRPr lang="en-US" sz="1050" dirty="0"/>
          </a:p>
        </p:txBody>
      </p:sp>
      <p:sp>
        <p:nvSpPr>
          <p:cNvPr id="23" name="TextBox 22"/>
          <p:cNvSpPr txBox="1"/>
          <p:nvPr/>
        </p:nvSpPr>
        <p:spPr>
          <a:xfrm>
            <a:off x="6400800" y="4526280"/>
            <a:ext cx="5394960" cy="1554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B5392A"/>
                </a:solidFill>
                <a:latin typeface="Inter"/>
              </a:rPr>
              <a:t>Roglič</a:t>
            </a:r>
            <a:r>
              <a:rPr sz="1250" b="0">
                <a:solidFill>
                  <a:srgbClr val="1A1714"/>
                </a:solidFill>
                <a:latin typeface="Inter"/>
              </a:rPr>
              <a:t>   Tokyo ITT (men):  59.2 vs 55:04  (+7.5%)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B5392A"/>
                </a:solidFill>
                <a:latin typeface="Inter"/>
              </a:rPr>
              <a:t>van Vleuten</a:t>
            </a:r>
            <a:r>
              <a:rPr sz="1250" b="0">
                <a:solidFill>
                  <a:srgbClr val="1A1714"/>
                </a:solidFill>
                <a:latin typeface="Inter"/>
              </a:rPr>
              <a:t>   Tokyo ITT (women):  33.7 vs 30:13  (+11.6%)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B5392A"/>
                </a:solidFill>
                <a:latin typeface="Inter"/>
              </a:rPr>
              <a:t>Ganna</a:t>
            </a:r>
            <a:r>
              <a:rPr sz="1250" b="0">
                <a:solidFill>
                  <a:srgbClr val="1A1714"/>
                </a:solidFill>
                <a:latin typeface="Inter"/>
              </a:rPr>
              <a:t>   Flanders ITT (men):  53.5 vs 47:48  (+11.9%)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38328"/>
            <a:ext cx="365760" cy="256032"/>
          </a:xfrm>
          <a:prstGeom prst="rect">
            <a:avLst/>
          </a:prstGeom>
          <a:solidFill>
            <a:srgbClr val="B5392A"/>
          </a:solidFill>
          <a:ln w="25400">
            <a:solidFill>
              <a:srgbClr val="1A1714"/>
            </a:solidFill>
          </a:ln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77494" y="368503"/>
            <a:ext cx="5715000" cy="2029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SENSITIVITY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84302" y="609905"/>
            <a:ext cx="10159898" cy="4956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A171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Sensitivity: Wind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84302" y="1155802"/>
            <a:ext cx="952805" cy="32004"/>
          </a:xfrm>
          <a:prstGeom prst="rect">
            <a:avLst/>
          </a:prstGeom>
          <a:solidFill>
            <a:srgbClr val="B5392A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84302" y="1524305"/>
            <a:ext cx="4419295" cy="27944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550" b="1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 Wind acts only through drag</a:t>
            </a: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endParaRPr lang="en-US" sz="1550" dirty="0"/>
          </a:p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550" b="1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 Flat Flanders is the most exposed</a:t>
            </a: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endParaRPr lang="en-US" sz="1550" dirty="0"/>
          </a:p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550" b="1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 No wind direction, strength only</a:t>
            </a: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5320894" y="1524305"/>
            <a:ext cx="6286500" cy="3556102"/>
          </a:xfrm>
          <a:prstGeom prst="rect">
            <a:avLst/>
          </a:prstGeom>
          <a:solidFill>
            <a:srgbClr val="FFFFFF"/>
          </a:solidFill>
          <a:ln w="25400">
            <a:solidFill>
              <a:srgbClr val="1A1714"/>
            </a:solidFill>
            <a:prstDash val="solid"/>
          </a:ln>
        </p:spPr>
        <p:txBody>
          <a:bodyPr/>
          <a:p/>
        </p:txBody>
      </p:sp>
      <p:pic>
        <p:nvPicPr>
          <p:cNvPr id="20" name="Image 0" descr="mq569lla-wind_sensi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9941" y="1638605"/>
            <a:ext cx="5989320" cy="332750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320894" y="5130698"/>
            <a:ext cx="4635094" cy="3300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Finishing-time change vs a uniform headwind (−4…+4 m/s, negative = tailwind), three courses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84302" y="6349594"/>
            <a:ext cx="11024006" cy="0"/>
          </a:xfrm>
          <a:prstGeom prst="line">
            <a:avLst/>
          </a:prstGeom>
          <a:noFill/>
          <a:ln w="25400">
            <a:solidFill>
              <a:srgbClr val="1A1714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584302" y="6400800"/>
            <a:ext cx="5715000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Profile of a Cyclist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9702698" y="6400800"/>
            <a:ext cx="1904695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B539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pPr algn="r" indent="0" marL="0">
              <a:buNone/>
            </a:pPr>
            <a:r>
              <a:rPr lang="en-US" sz="1050" spc="200" kern="0" dirty="0">
                <a:solidFill>
                  <a:srgbClr val="1A171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15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38328"/>
            <a:ext cx="365760" cy="256032"/>
          </a:xfrm>
          <a:prstGeom prst="rect">
            <a:avLst/>
          </a:prstGeom>
          <a:solidFill>
            <a:srgbClr val="B5392A"/>
          </a:solidFill>
          <a:ln w="25400">
            <a:solidFill>
              <a:srgbClr val="1A1714"/>
            </a:solidFill>
          </a:ln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77494" y="368503"/>
            <a:ext cx="5715000" cy="2029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SENSITIVITY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84302" y="609905"/>
            <a:ext cx="10159898" cy="4956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A171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Sensitivity: Power Execution &amp; Parameters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84302" y="1155802"/>
            <a:ext cx="952805" cy="32004"/>
          </a:xfrm>
          <a:prstGeom prst="rect">
            <a:avLst/>
          </a:prstGeom>
          <a:solidFill>
            <a:srgbClr val="B5392A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84302" y="1524305"/>
            <a:ext cx="4419295" cy="27944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550" b="1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 Scale the power plan ±5 / 10 / 15%</a:t>
            </a: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endParaRPr lang="en-US" sz="1550" dirty="0"/>
          </a:p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550" b="1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 Mild penalty, robust to pacing error</a:t>
            </a: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endParaRPr lang="en-US" sz="1550" dirty="0"/>
          </a:p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550" b="1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 Threshold power is the trait that matters</a:t>
            </a: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5320894" y="1524305"/>
            <a:ext cx="6286500" cy="3556102"/>
          </a:xfrm>
          <a:prstGeom prst="rect">
            <a:avLst/>
          </a:prstGeom>
          <a:solidFill>
            <a:srgbClr val="FFFFFF"/>
          </a:solidFill>
          <a:ln w="25400">
            <a:solidFill>
              <a:srgbClr val="1A1714"/>
            </a:solidFill>
            <a:prstDash val="solid"/>
          </a:ln>
        </p:spPr>
        <p:txBody>
          <a:bodyPr/>
          <a:p/>
        </p:txBody>
      </p:sp>
      <p:pic>
        <p:nvPicPr>
          <p:cNvPr id="20" name="Image 0" descr="mq569ll9-power_devi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9941" y="1638605"/>
            <a:ext cx="5989320" cy="332750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320894" y="5130698"/>
            <a:ext cx="4635094" cy="3300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Finishing-time change vs power deviation from plan (−15…+15%), four riders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84302" y="6349594"/>
            <a:ext cx="11024006" cy="0"/>
          </a:xfrm>
          <a:prstGeom prst="line">
            <a:avLst/>
          </a:prstGeom>
          <a:noFill/>
          <a:ln w="25400">
            <a:solidFill>
              <a:srgbClr val="1A1714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584302" y="6400800"/>
            <a:ext cx="5715000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Profile of a Cyclist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9702698" y="6400800"/>
            <a:ext cx="1904695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B539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pPr algn="r" indent="0" marL="0">
              <a:buNone/>
            </a:pPr>
            <a:r>
              <a:rPr lang="en-US" sz="1050" spc="200" kern="0" dirty="0">
                <a:solidFill>
                  <a:srgbClr val="1A171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15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38328"/>
            <a:ext cx="365760" cy="256032"/>
          </a:xfrm>
          <a:prstGeom prst="rect">
            <a:avLst/>
          </a:prstGeom>
          <a:solidFill>
            <a:srgbClr val="B5392A"/>
          </a:solidFill>
          <a:ln w="25400">
            <a:solidFill>
              <a:srgbClr val="1A1714"/>
            </a:solidFill>
          </a:ln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77494" y="368503"/>
            <a:ext cx="5715000" cy="2029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84302" y="609905"/>
            <a:ext cx="10159898" cy="4956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A171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Limitations &amp; Alternatives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84302" y="1155802"/>
            <a:ext cx="952805" cy="32004"/>
          </a:xfrm>
          <a:prstGeom prst="rect">
            <a:avLst/>
          </a:prstGeom>
          <a:solidFill>
            <a:srgbClr val="B5392A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84302" y="1524305"/>
            <a:ext cx="5969203" cy="27944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1200"/>
              </a:spcAft>
              <a:buNone/>
            </a:pPr>
            <a:r>
              <a:rPr lang="en-US" sz="1550" b="1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 Headwind has strength but no direction</a:t>
            </a: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endParaRPr lang="en-US" sz="1550" dirty="0"/>
          </a:p>
          <a:p>
            <a:pPr indent="0" marL="0">
              <a:lnSpc>
                <a:spcPct val="122000"/>
              </a:lnSpc>
              <a:spcAft>
                <a:spcPts val="1200"/>
              </a:spcAft>
              <a:buNone/>
            </a:pPr>
            <a:r>
              <a:rPr lang="en-US" sz="1550" b="1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 Corner penalty is fixed, not speed-dependent</a:t>
            </a: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endParaRPr lang="en-US" sz="1550" dirty="0"/>
          </a:p>
          <a:p>
            <a:pPr indent="0" marL="0">
              <a:lnSpc>
                <a:spcPct val="122000"/>
              </a:lnSpc>
              <a:spcAft>
                <a:spcPts val="1200"/>
              </a:spcAft>
              <a:buNone/>
            </a:pPr>
            <a:r>
              <a:rPr lang="en-US" sz="1550" b="1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 Female CdA scaled from male, not measured</a:t>
            </a: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endParaRPr lang="en-US" sz="1550" dirty="0"/>
          </a:p>
          <a:p>
            <a:pPr indent="0" marL="0">
              <a:lnSpc>
                <a:spcPct val="122000"/>
              </a:lnSpc>
              <a:spcAft>
                <a:spcPts val="1200"/>
              </a:spcAft>
              <a:buNone/>
            </a:pPr>
            <a:r>
              <a:rPr lang="en-US" sz="1550" b="1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 One simple fatigue rule (cf. critical-power / W′)</a:t>
            </a: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921094" y="3733495"/>
            <a:ext cx="4737506" cy="952805"/>
          </a:xfrm>
          <a:prstGeom prst="rect">
            <a:avLst/>
          </a:prstGeom>
          <a:solidFill>
            <a:srgbClr val="1A1714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870802" y="3683203"/>
            <a:ext cx="4737506" cy="952805"/>
          </a:xfrm>
          <a:prstGeom prst="rect">
            <a:avLst/>
          </a:prstGeom>
          <a:solidFill>
            <a:srgbClr val="B5392A"/>
          </a:solidFill>
          <a:ln w="25400">
            <a:solidFill>
              <a:srgbClr val="1A1714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035394" y="3797503"/>
            <a:ext cx="4419295" cy="1655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FBF4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TRADE-OFF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035394" y="3974897"/>
            <a:ext cx="4419295" cy="57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FBF4E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We traded physiological detail for transparency. Each limitation maps to a known refinement.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84302" y="6349594"/>
            <a:ext cx="11024006" cy="0"/>
          </a:xfrm>
          <a:prstGeom prst="line">
            <a:avLst/>
          </a:prstGeom>
          <a:noFill/>
          <a:ln w="25400">
            <a:solidFill>
              <a:srgbClr val="1A1714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84302" y="6400800"/>
            <a:ext cx="5715000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Profile of a Cyclist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702698" y="6400800"/>
            <a:ext cx="1904695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B539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</a:t>
            </a:r>
            <a:pPr algn="r" indent="0" marL="0">
              <a:buNone/>
            </a:pPr>
            <a:r>
              <a:rPr lang="en-US" sz="1050" spc="200" kern="0" dirty="0">
                <a:solidFill>
                  <a:srgbClr val="1A171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15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38328"/>
            <a:ext cx="365760" cy="256032"/>
          </a:xfrm>
          <a:prstGeom prst="rect">
            <a:avLst/>
          </a:prstGeom>
          <a:solidFill>
            <a:srgbClr val="B5392A"/>
          </a:solidFill>
          <a:ln w="25400">
            <a:solidFill>
              <a:srgbClr val="1A1714"/>
            </a:solidFill>
          </a:ln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77494" y="368503"/>
            <a:ext cx="5715000" cy="2029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84302" y="609905"/>
            <a:ext cx="10159898" cy="4956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A171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Extension: Team Time Trial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84302" y="1155802"/>
            <a:ext cx="952805" cy="32004"/>
          </a:xfrm>
          <a:prstGeom prst="rect">
            <a:avLst/>
          </a:prstGeom>
          <a:solidFill>
            <a:srgbClr val="B5392A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84302" y="1498702"/>
            <a:ext cx="11024006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000" b="1" dirty="0">
                <a:solidFill>
                  <a:srgbClr val="1A171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single-rider model already carries the two ingredients a TTT needs.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84302" y="2413102"/>
            <a:ext cx="5969203" cy="27944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550" b="1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 Team's time = the 4th rider across the line</a:t>
            </a: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endParaRPr lang="en-US" sz="1550" dirty="0"/>
          </a:p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550" b="1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 New goal: keep four together as long as possible</a:t>
            </a: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endParaRPr lang="en-US" sz="1550" dirty="0"/>
          </a:p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550" b="1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 Drafting dominates: the slipstream cuts drag</a:t>
            </a: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endParaRPr lang="en-US" sz="1550" dirty="0"/>
          </a:p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550" b="1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 Rotating paceline: hard pull, then recover in the draft</a:t>
            </a: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584302" y="6349594"/>
            <a:ext cx="11024006" cy="0"/>
          </a:xfrm>
          <a:prstGeom prst="line">
            <a:avLst/>
          </a:prstGeom>
          <a:noFill/>
          <a:ln w="25400">
            <a:solidFill>
              <a:srgbClr val="1A1714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84302" y="6400800"/>
            <a:ext cx="5715000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Profile of a Cyclist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702698" y="6400800"/>
            <a:ext cx="1904695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B539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</a:t>
            </a:r>
            <a:pPr algn="r" indent="0" marL="0">
              <a:buNone/>
            </a:pPr>
            <a:r>
              <a:rPr lang="en-US" sz="1050" spc="200" kern="0" dirty="0">
                <a:solidFill>
                  <a:srgbClr val="1A171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15</a:t>
            </a:r>
            <a:endParaRPr lang="en-US" sz="1050" dirty="0"/>
          </a:p>
        </p:txBody>
      </p:sp>
      <p:pic>
        <p:nvPicPr>
          <p:cNvPr id="20" name="Picture 19" descr="pac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251960"/>
            <a:ext cx="11064240" cy="19659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38328"/>
            <a:ext cx="365760" cy="256032"/>
          </a:xfrm>
          <a:prstGeom prst="rect">
            <a:avLst/>
          </a:prstGeom>
          <a:solidFill>
            <a:srgbClr val="B5392A"/>
          </a:solidFill>
          <a:ln w="25400">
            <a:solidFill>
              <a:srgbClr val="1A1714"/>
            </a:solidFill>
          </a:ln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77494" y="368503"/>
            <a:ext cx="5715000" cy="2029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84302" y="609905"/>
            <a:ext cx="10159898" cy="4956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A171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Conclusion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84302" y="1155802"/>
            <a:ext cx="952805" cy="32004"/>
          </a:xfrm>
          <a:prstGeom prst="rect">
            <a:avLst/>
          </a:prstGeom>
          <a:solidFill>
            <a:srgbClr val="B5392A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84302" y="1587398"/>
            <a:ext cx="7366406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000" b="1" dirty="0">
                <a:solidFill>
                  <a:srgbClr val="1A171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optimizer </a:t>
            </a:r>
            <a:pPr indent="0" marL="0">
              <a:lnSpc>
                <a:spcPct val="118000"/>
              </a:lnSpc>
              <a:buNone/>
            </a:pPr>
            <a:r>
              <a:rPr lang="en-US" sz="2000" b="1" i="1" dirty="0">
                <a:solidFill>
                  <a:srgbClr val="B539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rediscovers good pacing on its own</a:t>
            </a:r>
            <a:pPr indent="0" marL="0">
              <a:lnSpc>
                <a:spcPct val="118000"/>
              </a:lnSpc>
              <a:buNone/>
            </a:pPr>
            <a:r>
              <a:rPr lang="en-US" sz="2000" b="1" dirty="0">
                <a:solidFill>
                  <a:srgbClr val="1A171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, and lands within a few percent of the best riders in the world.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84302" y="2730398"/>
            <a:ext cx="7366406" cy="27944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550" b="1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 Point mass + a fatigue rule + a 2-knob optimizer</a:t>
            </a: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endParaRPr lang="en-US" sz="1550" dirty="0"/>
          </a:p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550" b="1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 Push climbs, recover descents, hold steady on flats</a:t>
            </a: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endParaRPr lang="en-US" sz="1550" dirty="0"/>
          </a:p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550" b="1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 Within ~7 to 12% of the real 2021 winners</a:t>
            </a: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84302" y="4444898"/>
            <a:ext cx="7366406" cy="3813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B539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Thank you, Questions?</a:t>
            </a:r>
            <a:endParaRPr lang="en-US" sz="2300" dirty="0"/>
          </a:p>
        </p:txBody>
      </p:sp>
      <p:sp>
        <p:nvSpPr>
          <p:cNvPr id="13" name="Shape 10"/>
          <p:cNvSpPr/>
          <p:nvPr/>
        </p:nvSpPr>
        <p:spPr>
          <a:xfrm>
            <a:off x="584302" y="6349594"/>
            <a:ext cx="11024006" cy="0"/>
          </a:xfrm>
          <a:prstGeom prst="line">
            <a:avLst/>
          </a:prstGeom>
          <a:noFill/>
          <a:ln w="25400">
            <a:solidFill>
              <a:srgbClr val="1A1714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584302" y="6400800"/>
            <a:ext cx="5715000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Profile of a Cyclist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9702698" y="6400800"/>
            <a:ext cx="1904695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B539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pPr algn="r" indent="0" marL="0">
              <a:buNone/>
            </a:pPr>
            <a:r>
              <a:rPr lang="en-US" sz="1050" spc="200" kern="0" dirty="0">
                <a:solidFill>
                  <a:srgbClr val="1A171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15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38328"/>
            <a:ext cx="365760" cy="256032"/>
          </a:xfrm>
          <a:prstGeom prst="rect">
            <a:avLst/>
          </a:prstGeom>
          <a:solidFill>
            <a:srgbClr val="1A1714"/>
          </a:solidFill>
          <a:ln w="25400">
            <a:solidFill>
              <a:srgbClr val="1A1714"/>
            </a:solidFill>
          </a:ln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77494" y="368503"/>
            <a:ext cx="5715000" cy="2029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BACKUP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84302" y="609905"/>
            <a:ext cx="10159898" cy="4956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A171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Heatmap Detail / Knob Trade-off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84302" y="1155802"/>
            <a:ext cx="952805" cy="32004"/>
          </a:xfrm>
          <a:prstGeom prst="rect">
            <a:avLst/>
          </a:prstGeom>
          <a:solidFill>
            <a:srgbClr val="B5392A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84302" y="1524305"/>
            <a:ext cx="4419295" cy="27944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550" b="1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 </a:t>
            </a: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550" dirty="0">
                <a:solidFill>
                  <a:srgbClr val="1A17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Flat basin → hill_factor and flat_boost substitute for each other</a:t>
            </a: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endParaRPr lang="en-US" sz="1550" dirty="0"/>
          </a:p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550" b="1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 </a:t>
            </a: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550" dirty="0">
                <a:solidFill>
                  <a:srgbClr val="1A17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the flat_boost bound → optimizer raises hill_factor, same time</a:t>
            </a: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endParaRPr lang="en-US" sz="1550" dirty="0"/>
          </a:p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550" b="1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 </a:t>
            </a: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550" dirty="0">
                <a:solidFill>
                  <a:srgbClr val="1A17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Per-rider optimal knobs vary widely, finishing time does not</a:t>
            </a: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endParaRPr lang="en-US" sz="1550" dirty="0"/>
          </a:p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550" b="1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 </a:t>
            </a: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550" dirty="0">
                <a:solidFill>
                  <a:srgbClr val="1A17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Confirms strategy shape matters more than exact values</a:t>
            </a: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84302" y="2984602"/>
            <a:ext cx="2152498" cy="584302"/>
          </a:xfrm>
          <a:prstGeom prst="rect">
            <a:avLst/>
          </a:prstGeom>
          <a:solidFill>
            <a:srgbClr val="FFFFFF"/>
          </a:solidFill>
          <a:ln w="25400">
            <a:solidFill>
              <a:srgbClr val="1A171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3060497"/>
            <a:ext cx="1975104" cy="2542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1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1175 / 99 · 1548 / 20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327502"/>
            <a:ext cx="1975104" cy="2157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Tokyo opt knobs, male_tt · female_tt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851099" y="2984602"/>
            <a:ext cx="2152498" cy="584302"/>
          </a:xfrm>
          <a:prstGeom prst="rect">
            <a:avLst/>
          </a:prstGeom>
          <a:solidFill>
            <a:srgbClr val="FFFFFF"/>
          </a:solidFill>
          <a:ln w="25400">
            <a:solidFill>
              <a:srgbClr val="1A171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952598" y="3060497"/>
            <a:ext cx="1975104" cy="2542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1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997 / 85 · 799 / 99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52598" y="3327502"/>
            <a:ext cx="1975104" cy="2157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Tokyo opt knobs, male_clm · female_clm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84302" y="4280306"/>
            <a:ext cx="4419295" cy="508406"/>
          </a:xfrm>
          <a:prstGeom prst="rect">
            <a:avLst/>
          </a:prstGeom>
          <a:solidFill>
            <a:srgbClr val="FFFFFF"/>
          </a:solidFill>
          <a:ln w="25400">
            <a:solidFill>
              <a:srgbClr val="1A171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85800" y="4356202"/>
            <a:ext cx="4241902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71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60 · 39 · 49 · 36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4584802"/>
            <a:ext cx="4241902" cy="1655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Flanders flat_boost (m_tt · f_tt · m_clm · f_clm)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20894" y="1524305"/>
            <a:ext cx="6286500" cy="3301898"/>
          </a:xfrm>
          <a:prstGeom prst="rect">
            <a:avLst/>
          </a:prstGeom>
          <a:solidFill>
            <a:srgbClr val="FFFFFF"/>
          </a:solidFill>
          <a:ln w="25400">
            <a:solidFill>
              <a:srgbClr val="1A1714"/>
            </a:solidFill>
            <a:prstDash val="solid"/>
          </a:ln>
        </p:spPr>
        <p:txBody>
          <a:bodyPr/>
          <a:p/>
        </p:txBody>
      </p:sp>
      <p:pic>
        <p:nvPicPr>
          <p:cNvPr id="17" name="Image 0" descr="mq569ll8-heatmap_toky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5194" y="2039112"/>
            <a:ext cx="6057900" cy="227137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320894" y="4876495"/>
            <a:ext cx="4635094" cy="3300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Knob trade-off near the optimum, male TT specialist, Tokyo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019995" y="4876495"/>
            <a:ext cx="1587398" cy="165506"/>
          </a:xfrm>
          <a:prstGeom prst="rect">
            <a:avLst/>
          </a:prstGeom>
          <a:solidFill>
            <a:srgbClr val="1A171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EA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heatmap_tokyo.png · zoom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84302" y="6349594"/>
            <a:ext cx="11024006" cy="0"/>
          </a:xfrm>
          <a:prstGeom prst="line">
            <a:avLst/>
          </a:prstGeom>
          <a:noFill/>
          <a:ln w="25400">
            <a:solidFill>
              <a:srgbClr val="1A1714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584302" y="6400800"/>
            <a:ext cx="5715000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Profile of a Cyclist · Backup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9702698" y="6400800"/>
            <a:ext cx="1904695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B539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B1</a:t>
            </a:r>
            <a:pPr algn="r" indent="0" marL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38328"/>
            <a:ext cx="365760" cy="256032"/>
          </a:xfrm>
          <a:prstGeom prst="rect">
            <a:avLst/>
          </a:prstGeom>
          <a:solidFill>
            <a:srgbClr val="1A1714"/>
          </a:solidFill>
          <a:ln w="25400">
            <a:solidFill>
              <a:srgbClr val="1A1714"/>
            </a:solidFill>
          </a:ln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77494" y="368503"/>
            <a:ext cx="5715000" cy="2029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BACKUP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84302" y="609905"/>
            <a:ext cx="10159898" cy="4956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A171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Extra Diagnostics, Other Three Riders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84302" y="1155802"/>
            <a:ext cx="952805" cy="32004"/>
          </a:xfrm>
          <a:prstGeom prst="rect">
            <a:avLst/>
          </a:prstGeom>
          <a:solidFill>
            <a:srgbClr val="B5392A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84302" y="1498702"/>
            <a:ext cx="11024006" cy="3557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7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5-panel layout · strategy identical across all four profiles · climbers lower power, lose time on flats · women finish a few min back · Tokyo: men 2 laps, women 1 lap · one lap: f_tt 33.7 · m_clm 32.2 · f_clm 36.0 min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4302" y="2031797"/>
            <a:ext cx="3564331" cy="3556102"/>
          </a:xfrm>
          <a:prstGeom prst="rect">
            <a:avLst/>
          </a:prstGeom>
          <a:solidFill>
            <a:srgbClr val="FFFFFF"/>
          </a:solidFill>
          <a:ln w="25400">
            <a:solidFill>
              <a:srgbClr val="1A1714"/>
            </a:solidFill>
            <a:prstDash val="solid"/>
          </a:ln>
        </p:spPr>
        <p:txBody>
          <a:bodyPr/>
          <a:p/>
        </p:txBody>
      </p:sp>
      <p:pic>
        <p:nvPicPr>
          <p:cNvPr id="8" name="Image 0" descr="mq569llb-diag_female_t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926" y="2146097"/>
            <a:ext cx="2722169" cy="33275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84302" y="5639105"/>
            <a:ext cx="1913839" cy="3300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Female TT specialist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14139" y="2031797"/>
            <a:ext cx="3564331" cy="3556102"/>
          </a:xfrm>
          <a:prstGeom prst="rect">
            <a:avLst/>
          </a:prstGeom>
          <a:solidFill>
            <a:srgbClr val="FFFFFF"/>
          </a:solidFill>
          <a:ln w="25400">
            <a:solidFill>
              <a:srgbClr val="1A1714"/>
            </a:solidFill>
            <a:prstDash val="solid"/>
          </a:ln>
        </p:spPr>
        <p:txBody>
          <a:bodyPr/>
          <a:p/>
        </p:txBody>
      </p:sp>
      <p:pic>
        <p:nvPicPr>
          <p:cNvPr id="12" name="Image 1" descr="mq569llc-diag_male_cli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763" y="2146097"/>
            <a:ext cx="2722169" cy="33275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14139" y="5639105"/>
            <a:ext cx="1913839" cy="3300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Male climber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043062" y="2031797"/>
            <a:ext cx="3564331" cy="3556102"/>
          </a:xfrm>
          <a:prstGeom prst="rect">
            <a:avLst/>
          </a:prstGeom>
          <a:solidFill>
            <a:srgbClr val="FFFFFF"/>
          </a:solidFill>
          <a:ln w="25400">
            <a:solidFill>
              <a:srgbClr val="1A1714"/>
            </a:solidFill>
            <a:prstDash val="solid"/>
          </a:ln>
        </p:spPr>
        <p:txBody>
          <a:bodyPr/>
          <a:p/>
        </p:txBody>
      </p:sp>
      <p:pic>
        <p:nvPicPr>
          <p:cNvPr id="16" name="Image 2" descr="mq569llb-diag_female_cli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4601" y="2146097"/>
            <a:ext cx="2722169" cy="33275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43062" y="5639105"/>
            <a:ext cx="1913839" cy="3300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Female climber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84302" y="6096305"/>
            <a:ext cx="11024006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Optimal vs baseline pacing, female TT, male climber, female climber (Tokyo)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84302" y="6349594"/>
            <a:ext cx="11024006" cy="0"/>
          </a:xfrm>
          <a:prstGeom prst="line">
            <a:avLst/>
          </a:prstGeom>
          <a:noFill/>
          <a:ln w="25400">
            <a:solidFill>
              <a:srgbClr val="1A1714"/>
            </a:solidFill>
            <a:prstDash val="solid"/>
          </a:ln>
        </p:spPr>
        <p:txBody>
          <a:bodyPr/>
          <a:p/>
        </p:txBody>
      </p:sp>
      <p:sp>
        <p:nvSpPr>
          <p:cNvPr id="21" name="Text 16"/>
          <p:cNvSpPr/>
          <p:nvPr/>
        </p:nvSpPr>
        <p:spPr>
          <a:xfrm>
            <a:off x="584302" y="6400800"/>
            <a:ext cx="5715000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Profile of a Cyclist · Backup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9702698" y="6400800"/>
            <a:ext cx="1904695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B539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B2</a:t>
            </a:r>
            <a:pPr algn="r" indent="0" marL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38328"/>
            <a:ext cx="365760" cy="256032"/>
          </a:xfrm>
          <a:prstGeom prst="rect">
            <a:avLst/>
          </a:prstGeom>
          <a:solidFill>
            <a:srgbClr val="B5392A"/>
          </a:solidFill>
          <a:ln w="25400">
            <a:solidFill>
              <a:srgbClr val="1A1714"/>
            </a:solidFill>
          </a:ln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77494" y="368503"/>
            <a:ext cx="5715000" cy="2029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BACKUP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84302" y="609905"/>
            <a:ext cx="10159898" cy="4956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A171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Model Derivation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84302" y="1155802"/>
            <a:ext cx="952805" cy="32004"/>
          </a:xfrm>
          <a:prstGeom prst="rect">
            <a:avLst/>
          </a:prstGeom>
          <a:solidFill>
            <a:srgbClr val="B5392A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84302" y="1524305"/>
            <a:ext cx="5969203" cy="27944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550" b="1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 Start from Newton's second law: a = F / m</a:t>
            </a: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endParaRPr lang="en-US" sz="1550" dirty="0"/>
          </a:p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550" b="1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 Build F from the four force terms</a:t>
            </a: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endParaRPr lang="en-US" sz="1550" dirty="0"/>
          </a:p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550" b="1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 Substitute each force, then step in time</a:t>
            </a: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endParaRPr lang="en-US" sz="1550" dirty="0"/>
          </a:p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550" b="1" dirty="0">
                <a:solidFill>
                  <a:srgbClr val="B539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 Units check: forces in N → m/s after ÷m, ×Δt</a:t>
            </a: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5029200"/>
            <a:ext cx="11091672" cy="950976"/>
          </a:xfrm>
          <a:prstGeom prst="rect">
            <a:avLst/>
          </a:prstGeom>
          <a:solidFill>
            <a:srgbClr val="B5392A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48640" y="4937760"/>
            <a:ext cx="11091672" cy="950976"/>
          </a:xfrm>
          <a:prstGeom prst="rect">
            <a:avLst/>
          </a:prstGeom>
          <a:solidFill>
            <a:srgbClr val="FFFFFF"/>
          </a:solidFill>
          <a:ln w="25400">
            <a:solidFill>
              <a:srgbClr val="1A171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77240" y="5010912"/>
            <a:ext cx="4419295" cy="1527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B539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FULL UPDATE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84302" y="6349594"/>
            <a:ext cx="11024006" cy="0"/>
          </a:xfrm>
          <a:prstGeom prst="line">
            <a:avLst/>
          </a:prstGeom>
          <a:noFill/>
          <a:ln w="25400">
            <a:solidFill>
              <a:srgbClr val="1A1714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84302" y="6400800"/>
            <a:ext cx="5715000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Profile of a Cyclist · Backup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702698" y="6400800"/>
            <a:ext cx="1904695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B539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B1</a:t>
            </a:r>
            <a:pPr algn="r" indent="0" marL="0">
              <a:buNone/>
            </a:pPr>
            <a:endParaRPr lang="en-US" sz="1050" dirty="0"/>
          </a:p>
        </p:txBody>
      </p:sp>
      <p:pic>
        <p:nvPicPr>
          <p:cNvPr id="15" name="Picture 14" descr="eq_upd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168" y="5248656"/>
            <a:ext cx="9509760" cy="590702"/>
          </a:xfrm>
          <a:prstGeom prst="rect">
            <a:avLst/>
          </a:prstGeom>
        </p:spPr>
      </p:pic>
      <p:pic>
        <p:nvPicPr>
          <p:cNvPr id="16" name="Picture 15" descr="eq_forc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874519"/>
            <a:ext cx="5440680" cy="14740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2026-06-08T12:49:07Z</dcterms:created>
  <dcterms:modified xsi:type="dcterms:W3CDTF">2026-06-08T12:49:07Z</dcterms:modified>
</cp:coreProperties>
</file>